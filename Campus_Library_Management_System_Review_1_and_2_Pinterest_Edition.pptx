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evaluators, welcome to our presentation for Review 1 and Review 2 of our Campus Library Management System. We have unified both review requirements into this high-impact, visual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ACADEMIC PROJECT PRESENTATION  |  REVIEW 1 &amp; 2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Campus Library</a:t>
            </a:r>
            <a:br/>
            <a:r>
              <a:t>Management System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</a:defRPr>
            </a:pPr>
            <a:r>
              <a:t>Next-Generation Copy-Level Circulation with Embedded Total Quality Management (TQM)</a:t>
            </a:r>
          </a:p>
          <a:p>
            <a:pPr>
              <a:spcAft>
                <a:spcPts val="2000"/>
              </a:spcAft>
              <a:defRPr sz="1200">
                <a:solidFill>
                  <a:srgbClr val="94A3B8"/>
                </a:solidFill>
              </a:defRPr>
            </a:pPr>
            <a:r>
              <a:t>📌 Review 1: Setup, SRS, Scope, Blueprints &amp; Relational Database Design</a:t>
            </a:r>
            <a:br/>
            <a:r>
              <a:t>📌 Review 2: Live Working App, CRUD Workflows, TQM Suite &amp; Test Suite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Python 3.10+  ·  Flask 3.1  ·  SQLAlchemy  ·  PostgreSQL / SQLite  ·  Bootstrap 5  ·  Chart.js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822960"/>
            <a:ext cx="4572000" cy="51206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_an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0"/>
            <a:ext cx="438912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4297680"/>
            <a:ext cx="201168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64/64 Automated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4297680"/>
            <a:ext cx="18288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🛡️ ACID Row Locking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512064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4A3B8"/>
                </a:solidFill>
              </a:defRPr>
            </a:pPr>
            <a:r>
              <a:t>Modern Digital Campus Library — Inspired by Ghibli &amp; Shinkai Visuals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VISUAL PINBOARD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Executive Agenda: Review 1 &amp; Review 2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BE185D"/>
                </a:solidFill>
              </a:defRPr>
            </a:pPr>
            <a:r>
              <a:t>01 · Problem &amp; SRS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Review 1 Foundations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Problem Statement: Real library bottlenecks &amp; stock loss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Quality Objectives: Target metrics (&lt;500ms, &gt;85% satisfaction)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Formal SRS: 7 Functional &amp; 6 Non-Functional specifications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Scope: 3 Segregated operational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14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4F46E5"/>
                </a:solidFill>
              </a:defRPr>
            </a:pPr>
            <a:r>
              <a:t>02 · Architecture &amp; ERD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Review 1 System Design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Modular Blueprints: Auth, Catalog, Quality, Reports, Services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14 Normalized Tables: Schema design &amp; constraints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ACID Integrity: Row locking (with_for_update) &amp; cascades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UI/UX Design: Student vs Management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03 · CRUD &amp; Circulation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Review 2 Core Delivery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Working App: Live Flask instance on port 5000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Catalog CRUD: Book cataloging &amp; bulk CSV imports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Circulation Engine: Atomic issues, returns, and fines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FIFO Hold Queue: Automatic copy waitlist promotion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606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D97706"/>
                </a:solidFill>
              </a:defRPr>
            </a:pPr>
            <a:r>
              <a:t>04 · TQM &amp; Verification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Review 2 Quality Suite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VoC Feedback: 1-5 Star categorized student ratings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Pareto 80/20: Dynamic defect clustering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Ishikawa &amp; 5-Whys: 6M root-cause drill-downs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PDCA Cycles: Stage-gated continuous improvement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64/64 Pytest: 100% automated test pass rate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1 · PROBLEM DEFINITION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Operational Bottlenecks in Campus Libraries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BE185D"/>
                </a:solidFill>
              </a:defRPr>
            </a:pPr>
            <a:r>
              <a:t>1. Physical Copy Blindspots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Legacy systems track titles only as aggregate counts.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Missing individual barcode granularity causes unexplained loss.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 real-time visibility into shelf vs loaned vs reserved copies.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D97706"/>
                </a:solidFill>
              </a:defRPr>
            </a:pPr>
            <a:r>
              <a:t>2. Peak-Hour Circulation Friction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Circulation bottlenecks create long student checkout queues.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Late returns go unpenalized or suffer subjective manual fines.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No automated hold queues: students visit desks for missing books.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3. Missing Quality Feedback Loop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Absence of Quality Systems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Student dissatisfaction is unstructured and ignored.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Complaints are resolved informally with zero root-cause analysis.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Same recurring defects repeat year after year.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No integration between service desk and continuous improvement (TQM).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Institutional decisions lack empirical data backing.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63040"/>
            <a:ext cx="374903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ding-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0"/>
            <a:ext cx="347472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52120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1827"/>
                </a:solidFill>
              </a:defRPr>
            </a:pPr>
            <a:r>
              <a:t>🎯 Goal: Friction-free student learning with verified book availability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1 · QUALITY FOUNDATIONS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Empirical Quality Objectives &amp; TQM Grounding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B4332"/>
                </a:solidFill>
              </a:defRPr>
            </a:pPr>
            <a:r>
              <a:t>0.0%</a:t>
            </a:r>
          </a:p>
          <a:p>
            <a:pPr>
              <a:defRPr sz="1200" b="1">
                <a:solidFill>
                  <a:srgbClr val="111827"/>
                </a:solidFill>
              </a:defRPr>
            </a:pPr>
            <a:r>
              <a:t>Inventory Discrepancy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100% Copy-level barcoding eliminates stock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&lt; 500ms</a:t>
            </a:r>
          </a:p>
          <a:p>
            <a:pPr>
              <a:defRPr sz="1200" b="1">
                <a:solidFill>
                  <a:srgbClr val="111827"/>
                </a:solidFill>
              </a:defRPr>
            </a:pPr>
            <a:r>
              <a:t>Issue Processing Time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Sub-second server latency for rapid queue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≥ 4.0 / 5</a:t>
            </a:r>
          </a:p>
          <a:p>
            <a:pPr>
              <a:defRPr sz="1200" b="1">
                <a:solidFill>
                  <a:srgbClr val="111827"/>
                </a:solidFill>
              </a:defRPr>
            </a:pPr>
            <a:r>
              <a:t>Student Satisfaction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90-Day rolling VoC mean satisfaction target.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93192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BE185D"/>
                </a:solidFill>
              </a:defRPr>
            </a:pPr>
            <a:r>
              <a:t>≥ 90%</a:t>
            </a:r>
          </a:p>
          <a:p>
            <a:pPr>
              <a:defRPr sz="1200" b="1">
                <a:solidFill>
                  <a:srgbClr val="111827"/>
                </a:solidFill>
              </a:defRPr>
            </a:pPr>
            <a:r>
              <a:t>Complaint Resolution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Closed-loop complaint recovery with root cause.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11827"/>
                </a:solidFill>
              </a:defRPr>
            </a:pPr>
            <a:r>
              <a:t>Total Quality Management (TQM) Framework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Empirical Process Control Built into Database Tables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Deming's Continuous Improvement: Eliminating slogans in favor of system-level process optimization.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Voice of the Customer (VoC): Multi-dimensional student ratings across 6 service categories.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Pareto Analysis (80/20 Principle): Mathematically identifying the 'vital few' defect categories.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Ishikawa (6M Fishbone) &amp; 5-Whys: Root-cause causation modeling across People, Process, Tech, Materials, Environment, Policy.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Kaizen Action Register: Assigning corrective tasks to named owners with strict completion deadlines.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Stage-Gated PDCA Cycles: Plan → Do → Check → Act progression preventing unverified changes.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1 · FORMAL SRS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Software Requirements Specification (SRS)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Functional Requirements (FR)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System Functional Scope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FR-01 (Auth): Role-segregated sign-in (Student vs Management) with Werkzeug hashing.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FR-02 (Catalog): ISBN-10/13 checksum validation, course/semester curriculum tagging.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FR-03 (Circulation): Atomic checkouts with duplicate active loan detection and fine ledger.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FR-04 (Holds): FIFO waitlist that claims returning copies automatically for students.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FR-05 (VoC &amp; Complaints): 1-5 Star feedback and complaint lifecycle with in-app alerts.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FR-06 (TQM Toolkit): Digital Ishikawa 6M forms, 5-Whys chaining, and PDCA stage gating.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FR-07 (Reports): Dynamic date-filtered CSV, Excel (.xlsx), and ReportLab PDF exports.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11827"/>
                </a:solidFill>
              </a:defRPr>
            </a:pPr>
            <a:r>
              <a:t>Non-Functional Requirements (NFR)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Quality Attributes &amp; Architectural Standards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NFR-01 (ACID Concurrency): Row-level locking (with_for_update) eliminates race conditions.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NFR-02 (Application Security): CSRF tokens on all 37 forms, session invalidation via auth_version.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NFR-03 (Performance): Compound indexes on status and due dates ensure sub-second queries.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NFR-04 (Scalability): Batch CSV import engine handles up to 10,000 copies with preview.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NFR-05 (Accessibility): WCAG 2.1 compliant themes (Forest, Light, Dark), high contrast, kbd shortcuts.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NFR-06 (Disaster Recovery): Point-in-time online SQLite backup and automated expired data purge.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1 · SCOPE &amp; RBAC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User Role Hierarchy &amp; Access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BE185D"/>
                </a:solidFill>
              </a:defRPr>
            </a:pPr>
            <a:r>
              <a:t>Student / Member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Self-Service Member Workspace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Dedicated Portal: /login/student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Browse Visual Shelf &amp; Filter by Semester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Reserve Copies &amp; Join FIFO Waitlist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Monitor Active Loans, Due Dates &amp; Fines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Submit 1-5 Star Categorized Feedback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Report Concerns &amp; Track Complaint Status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Receive In-App Alerts for Due/Ready 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Quality Manager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Continuous Improvement Command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Dedicated Portal: /quality/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Real-Time TQM Dashboard &amp; KPIs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Review VoC Feedback &amp; Rating Trends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Generate Pareto 80/20 Defect Charts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Conduct Ishikawa 6M &amp; 5-Whys Sessions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Assign Kaizen Actions with Deadlines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Direct Stage-Gated PDCA Cycles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Conduct Physical Inventory Audits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4F46E5"/>
                </a:solidFill>
              </a:defRPr>
            </a:pPr>
            <a:r>
              <a:t>Admin / Librarian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Operations &amp; Catalog Management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Dedicated Portal: /library/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Circulation Desk (Atomic Issue &amp; Return)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Manage Physical Copies (Available/Maint/Lost)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Catalog Administration (Books &amp; Metadata)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CSV Batch Import (Up to 10k copies)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Member Management &amp; Deactivation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System Policies (Loan Days &amp; Daily Fines)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Security Audit Logs &amp; Backup Utilities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1 · SYSTEM ARCHITECTURE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Modular Folder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11827"/>
                </a:solidFill>
              </a:defRPr>
            </a:pPr>
            <a:r>
              <a:t>Modular Blueprint Architecture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Clean Separation of Concerns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library_app/auth.py: Role-isolated auth, session revocation, reset tokens.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library_app/catalog.py: Book cataloging, copy barcode lifecycle, CSV preview.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library_app/quality.py: Feedback register, complaints, Pareto, Ishikawa, PDCA.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library_app/reports.py: Multi-format exports (CSV, Excel XLSX, ReportLab PDF).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library_app/services.py: Reusable business transactions &amp; KPI aggregation.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library_app/models.py: 14 Relational models with SQL constraints.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migrations/: Version-controlled Alembic database schema migrations.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tests/: 64 Automated Pytest integration and workflow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Enterprise Python Tech Stack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Robust Modern Web Ecosystem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Backend: Python 3.10+ with Flask 3.1.3 (Application Factory pattern).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ORM &amp; Migrations: SQLAlchemy 2.1 &amp; Flask-Migrate (Alembic).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Database: SQLite (Local) / PostgreSQL with Psycopg 3 (Production ready).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Security: Flask-Login, Flask-WTF (CSRF), Flask-Limiter, Werkzeug.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Export Engines: ReportLab (Vector PDF) &amp; OpenPyXL (Excel spreadsheets).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Frontend: HTML5, CSS3, Bootstrap 5.3, Chart.js for data visualization.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Testing Framework: Pytest 8.4 with 100% test pass rate.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1 · DATA ARCHITECTURE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Database Schema &amp; Entity Relationships (14 Tables)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Catalog &amp; Copies Pillar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Physical Item Granularity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books: Title, ISBN (unique), Year, Semester, FKs to metadata.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book_copies: Unique barcode (LIB-XXXXX-XXX), status ('available', 'loaned', 'reserved', 'maintenance', 'lost').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authors, categories, courses, publishers: Normalized lookup tables preventing text duplication.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Cascade rule: Deleting a book cascades to its physical copies.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D97706"/>
                </a:solidFill>
              </a:defRPr>
            </a:pPr>
            <a:r>
              <a:t>Circulation Pillar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ACID-Guaranteed Circulation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loans: copy_id, member_id, issued_by_id, due_date, returned_at, status.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reservations: FIFO hold queue with available_at_request tracking.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fines: Exact Decimal amount linked to loans.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Partial Unique Index: uq_active_copy_loan guarantees a physical copy cannot be loaned twice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4F46E5"/>
                </a:solidFill>
              </a:defRPr>
            </a:pPr>
            <a:r>
              <a:t>TQM &amp; Governance Pillar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Continuous Improvement Tables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feedback &amp; complaints: Categorized student inputs linked to members.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rootcauseanalyses: 6-Dimension Ishikawa factors + 5-Whys JSON.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improvement_actions: Kaizen register with owner_id and deadline.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pdca_cycles: Plan, Do, Check, Act stages with outcome notes.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audit_logs &amp; bug_incidents: System governance and transparency.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  📌  REVIEW 2 · IMPLEMENTATION MILESTONE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Fully Working Application &amp; Live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0B981"/>
                </a:solidFill>
              </a:defRPr>
            </a:pPr>
            <a:r>
              <a:t>Live System Verification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Fully Operational Production-Ready State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Working Application: Web server live on http://127.0.0.1:5000.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Health Check Probe (/healthz): Returns HTTP 200 OK with database connection latency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Zero Mockups: Every button, form, filter, and chart is connected to database tables.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Full Test Coverage: 64 out of 64 unit and integration tests passing in Pytest.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Responsive Pinterest Shelf UI: Dynamic visual pin cards, book photography, light/dark/forest green themes.</a:t>
            </a:r>
          </a:p>
        </p:txBody>
      </p:sp>
      <p:pic>
        <p:nvPicPr>
          <p:cNvPr id="6" name="Picture 5" descr="library-shel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4663440"/>
            <a:ext cx="22860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Live Database Seeded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663440"/>
            <a:ext cx="22860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🛡️ Alembic Migrations Head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2 · CRUD DELIVERY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Comprehensive CRUD Operations Across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1. Catalog &amp; Physical Copies CRUD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Create: Add books with ISBN check digit verification; generate copies.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Read: Multi-filter search (Title, Author, ISBN, Subject, Course, Availability).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Update: Edit title details, add more copies, adjust physical copy status.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Delete: Protected deletion preventing removal of books with loan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4F46E5"/>
                </a:solidFill>
              </a:defRPr>
            </a:pPr>
            <a:r>
              <a:t>2. Circulation &amp; Loans CRUD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Create: Atomic checkout assigning copy to active student account.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Read: Active loan register, overdue monitoring, personal borrowing log.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Update: Process return, assess late fine, and auto-allocate to waitlist.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Delete: Permanent audit trail (loans are transitioned to returned, never deleted).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BE185D"/>
                </a:solidFill>
              </a:defRPr>
            </a:pPr>
            <a:r>
              <a:t>3. TQM Service Register CRUD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Create: Submit 1-5 Star feedback and formal categorized complaints.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Read: Filterable complaint register with search, status, and category.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Update: Advance complaint status (Open → In Progress → Resolved → Closed).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Delete: Immutable audit record with automated in-app member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D97706"/>
                </a:solidFill>
              </a:defRPr>
            </a:pPr>
            <a:r>
              <a:t>4. Administrative &amp; Metadata CRUD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Create: Student self-registration and CLI staff provisioning.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Read: Complete member directory, system settings, and security audit log.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Update: Member activation toggle, profile update, password reset.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Delete/Purge: Safe cleanup of expired reset tokens and catalog import previews.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2 · MAIN SYSTEM WORKFLOW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Circulation Engine: Issue, Return &amp; Hold Allocation</a:t>
            </a:r>
          </a:p>
        </p:txBody>
      </p:sp>
      <p:pic>
        <p:nvPicPr>
          <p:cNvPr id="5" name="Picture 4" descr="circulation_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463040"/>
            <a:ext cx="5943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1B4332"/>
                </a:solidFill>
              </a:defRPr>
            </a:pPr>
            <a:r>
              <a:t>STEP 01 · Atomic Issue &amp; Duplicate Check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Staff selects member &amp; title; with_for_update() row lock prevents race conditions.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Rejects duplicate active loans for the same title; flips copy status: available → loaned.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108960"/>
            <a:ext cx="5943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D97706"/>
                </a:solidFill>
              </a:defRPr>
            </a:pPr>
            <a:r>
              <a:t>STEP 02 · Check-In &amp; Exact Fine Assessment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Calculates days late: max(0, today - due_date); assesses fine = days × daily_rate.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Records exact Decimal amount in fine ledger; timestamps return and records receiving staff.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754880"/>
            <a:ext cx="5943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4F46E5"/>
                </a:solidFill>
              </a:defRPr>
            </a:pPr>
            <a:r>
              <a:t>STEP 03 · FIFO Hold Allocation &amp; Auto-Notification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If member on waitlist: promotes reservation (waiting → ready), holds copy (reserved), notifies student.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If no waitlist: releases copy back to available inventory.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2 · TQM MODULE 1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Voice of Customer (VoC) &amp; Pareto 80/20 Defect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Voice of the Customer (VoC) Channels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Student Feedback Collection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1-5 Star Service Rating: Students submit ratings across 6 operational categories: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Book Availability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Staff Service Quality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Desk Waiting Time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Study Environment &amp; Cleanliness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Digital Access &amp; Systems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Other General Services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Complaint Tracking Lifecycle: Students monitor progress through Open → In Progress → Resolved → Closed.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Automated In-App Alerts: Students receive real-time updates when staff resolves their complaint.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BE185D"/>
                </a:solidFill>
              </a:defRPr>
            </a:pPr>
            <a:r>
              <a:t>Dynamic Pareto 80/20 Analysis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Mathematical Defect Prioritization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Empirical Aggregation: Automatically queries complaints and feedback submitted in trailing 90 days.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Frequency Sorting: Sorts defect categories from highest to lowest occurrence.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Cumulative Percentage Curve: Computes running percentage to isolate the vital few root causes.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Priority Highlighting: Automatically flags the #1 defect category for executive action.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 Falsified Data: Displays 'Insufficient data' when samples are empty, preserving analytical truth.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2 · TQM MODULE 2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Ishikawa (6-Dimension Fishbone) &amp; 5-Whys Chaining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11827"/>
                </a:solidFill>
              </a:defRPr>
            </a:pPr>
            <a:r>
              <a:t>Ishikawa (Fishbone) 6-Dimension Form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Systemic Root-Cause Investigation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Structured Investigation across 6 Universal Dimensions: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1. People: Staff training, shift scheduling, librarian coverage.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2. Processes: Circulation procedures, hold pickup limits.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3. Technology: Barcode scanners, server latency, network stability.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4. Materials: Physical book condition, shelf signage, barcode stickers.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5. Environment: Study hall noise levels, lighting, chair layout.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6. Policies: Loan duration rules, daily fine rates, grace periods.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Direct Complaint Linkage: Investigations link directly to originating student complaints.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D97706"/>
                </a:solidFill>
              </a:defRPr>
            </a:pPr>
            <a:r>
              <a:t>5-Whys Drill-Down &amp; Kaizen Actions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From Symptoms to Permanent Solutions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Iterative 5-Whys Drill-Down: Form guides investigators through 5 layers of causality.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Real-World Library Example: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Why 1? Students experienced 15-minute queue at 12:00 PM.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Why 2? Only 1 circulation desk was active.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Why 3? Staff lunch break was scheduled from 12:00 to 1:00 PM.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Why 4? Lunch schedule did not account for class changeover peaks.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Root Cause: Staff shift scheduling misaligned with student traffic.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Kaizen Action Creation: Instantly assigns an action to a staff owner with a deadline.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2 · TQM MODULE 3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Stage-Gated Deming PDCA Cycles &amp; Real-Time KPIs</a:t>
            </a:r>
          </a:p>
        </p:txBody>
      </p:sp>
      <p:pic>
        <p:nvPicPr>
          <p:cNvPr id="5" name="Picture 4" descr="tqm_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463040"/>
            <a:ext cx="5943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Stage-Gated Deming PDCA Cycles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Continuous Process Improvement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Plan: Formulate problem, baseline metric, measurable target, and intervention.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Do: Document experimental deployment notes and intermediate observations.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Check: Measure post-intervention results against target baseline.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Act: Record management decision to standardize change or pivot strategy.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Strict Gating: Plan → Do → Check → Act must proceed in order, preventing skipped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389120"/>
            <a:ext cx="5943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4F46E5"/>
                </a:solidFill>
              </a:defRPr>
            </a:pPr>
            <a:r>
              <a:t>Real-Time Database-Backed KPIs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Continuous Metric Tracking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Satisfaction Score: Trailing 90-day mean rating (1–5 scale).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On-Demand Availability: % of reservations ready at submission.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Circulation Speed: Server-side issue processing time (in milliseconds).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Inventory Accuracy: % matching copies in physical audits.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2 · REPORTING &amp; SECURITY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Dynamic Multi-Format Reporting &amp; Security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Multi-Format Reporting Engine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Institutional Analytics &amp; Compliance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8 Comprehensive Datasets: Inventory, Circulation, Overdue, Fines, Members, Quality KPIs, Pareto, Trends.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CSV Export: RFC 4180 compliant with UTF-8 BOM encoding for universal Excel compatibility.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Excel (.xlsx) Export: OpenPyXL generated with green header styling, freeze-panes, and auto-filters.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Printable PDF Export: High-resolution landscape vector tables generated via ReportLab with auto-wrapping.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Date-Range Filtering: Bounded date selectors with payload safety limits (max 25,000 spreadsheet rows, 1,500 PDF rows).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11827"/>
                </a:solidFill>
              </a:defRPr>
            </a:pPr>
            <a:r>
              <a:t>Enterprise Security Hardening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Vulnerability Prevention &amp; Defense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Formula Injection Defense: CSV/Excel cells starting with '=', '+', '-', or '@' are safely prepended with a single quote.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Session Invalidation (auth_version): Changing passwords or admin revocation immediately kills all other active sessions.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CSRF Protection: Cryptographic tokens validated on all 37 POST form actions across the application.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Rate Limiting (Flask-Limiter): Login restricted to 10/min; registration to 5/hr to prevent brute force.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Security Headers: Enforced X-Content-Type-Options: nosniff, X-Frame-Options: DENY, and HSTS.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REVIEW 2 · QUALITY ASSURANCE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Automated Testing &amp; System Health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Pytest Automated Test Suite (64 Tests)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Continuous Regression Testing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64 Passed / 0 Failed: 100% test pass rate across 5 test suites: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test_auth_and_roles.py (15 tests): RBAC, session termination, password resets.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test_library_workflows.py (9 tests): Checkouts, returns, hold promotions, fines.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test_new_features.py (16 tests): CSV preview, bounded queries, notifications.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test_production_configuration.py (13 tests): Production checks, secure cookies.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test_quality_workflows.py (11 tests): VoC, Pareto, PDCA, and audits.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Rapid Execution: Complete test suite runs in ~29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11827"/>
                </a:solidFill>
              </a:defRPr>
            </a:pPr>
            <a:r>
              <a:t>System Health &amp; Maintenance</a:t>
            </a:r>
          </a:p>
          <a:p>
            <a:pPr>
              <a:spcAft>
                <a:spcPts val="600"/>
              </a:spcAft>
              <a:defRPr sz="1000" i="1">
                <a:solidFill>
                  <a:srgbClr val="64748B"/>
                </a:solidFill>
              </a:defRPr>
            </a:pPr>
            <a:r>
              <a:t>Operational Reliability &amp; Health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Live Health Probe (/healthz): Returns HTTP 200 OK with database connection latency check.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Online SQLite Backup (backup-db): Uses sqlite3 backup API to create point-in-time consistent backups.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Expired Record Purge (purge-expired-records): Atomically removes stale reset tokens and abandoned CSV imports.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Automated Reminder Engine (send-loan-reminders): Idempotent background job generating due-soon alerts.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 Schema Drift: Alembic check confirms database tables exactly match SQLAlchemy models.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ECF4F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B4332"/>
                </a:solidFill>
              </a:defRPr>
            </a:pPr>
            <a:r>
              <a:t>  📌  VIVA PREPARATION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Evaluator Viva Questions &amp; Technical Defense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B4332"/>
                </a:solidFill>
              </a:defRPr>
            </a:pPr>
            <a:r>
              <a:t>Q1: How is Database Concurrency Handled?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Answer: All circulation routines (issue, return, reservation) run inside atomic transactions.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We use row-level locking with SQLAlchemy's with_for_update() to prevent race conditions and duplicate loans.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4F46E5"/>
                </a:solidFill>
              </a:defRPr>
            </a:pPr>
            <a:r>
              <a:t>Q2: How is TQM Practically Realized?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Answer: Rather than static notes, TQM is woven into live tables: 1-5 VoC ratings, Pareto defect clustering, Ishikawa 6M root cause, and Deming PDCA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BE185D"/>
                </a:solidFill>
              </a:defRPr>
            </a:pPr>
            <a:r>
              <a:t>Q3: How are User Sessions Secured?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Answer: Passwords use salted Werkzeug scrypt/pbkdf2 hashing. Cookies enforce HttpOnly and SameSite=Lax. An auth_version column revokes active sessions upon password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D97706"/>
                </a:solidFill>
              </a:defRPr>
            </a:pPr>
            <a:r>
              <a:t>Q4: How does the Schema Support Scale?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Answer: Physical copies are decoupled into a separate book_copies table with barcodes. Compound indexes optimize status/due-date lookups, and batch imports handle up to 10k copies.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329184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  📌  REVIEW 1 &amp; 2 SUMMARY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Achievements &amp; Future Evolution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10B981"/>
                </a:solidFill>
              </a:defRPr>
            </a:pPr>
            <a:r>
              <a:t>Completed Deliverables (Review 1 &amp; 2)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Milestones Successfully Achieved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✓ Formal SRS &amp; 14-Table Relational Schema Design.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✓ 3 Segregated Role Portals (Student, Quality Manager, Admin).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✓ Copy-Level Inventory Engine with Unique Barcodes.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✓ ACID-Compliant Circulation with Automatic FIFO Waitlist.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✓ Complete TQM Suite (VoC, Pareto 80/20, Ishikawa 6M, PDCA).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✓ Dynamic Multi-Format Reporting (CSV, Excel, Vector PDF).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✓ 100% Quality Assurance (64/64 Automated Tests Passed).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38BDF8"/>
                </a:solidFill>
              </a:defRPr>
            </a:pPr>
            <a:r>
              <a:t>Future Roadmap &amp; Enhancements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Next Evolution Steps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1. Hardware Barcode &amp; QR Scanners: Rapid checkout desk scanning.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2. RFID Tag &amp; Self-Checkout Kiosk: Automated student check-in/out.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3. Automated Email Gateway: Automated due-soon alerts via SMTP.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4. Dedicated Single-Book Detail Page: Copy shelf map and waitlist position.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 5. Mobile Progressive Web App (PWA): Offline catalog browsing.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