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evaluators. Today I am presenting our Campus Library Management System with embedded Total Quality Management (TQM). It is a fully working web application covering both Review 1 (Setup, SRS, and Architecture) and Review 2 (Working CRUD, Circulation, and TQM).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Review 1, we identified 3 major problems: 1) Physical copy blindspots, 2) Checkout queue delays, and 3) Missing quality loops. Our system fixes all three with copy-level barcoding, sub-second circulation, and real TQM.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4 measurable quality objectives: 1) Zero stock loss using unique barcodes, 2) Sub-second checkouts, 3) High student satisfaction tracked empirically, and 4) 100% closed-loop root-cause problem solving.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has 3 clean, isolated user roles: Students have a self-service portal to reserve books and give feedback; Quality Managers run Pareto and PDCA quality tools; and Librarians run the circulation desk and manage inventory.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Architecturally, we use Flask Blueprints separated by domain, connected to a transaction service layer and SQLAlchemy ORM. Our database has 14 normalized tables, enforcing copy-level granularity and ACID transactional security.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into Review 2: We have achieved a 100% working application running live. There are no mockups or static templates—every page connects to the live database, tested with 64 automated test cases.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CRUD operations across 4 main pillars: Catalog &amp; Copies, Circulation, TQM registers, and Users. Every operation respects relational integrity and maintains full audit history.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core circulation workflow. In Step 1, row locking guarantees two people cannot checkout the same book simultaneously. In Step 2, returns compute exact late fines. In Step 3, returned copies are automatically claimed by students on the waitlist.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TQM engine is not static text—it is fully integrated with live tables. We collect student VoC ratings, run Pareto 80/20 analyses to find the main problems, use 6M Fishbone and 5-Whys to find the root cause, and close the loop with Deming PDCA cycles.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verified the application with 64 automated tests in Pytest covering all security and circulation routines. The system also produces professional CSV, Excel, and PDF reports, with built-in disaster recovery backup commands.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our project fulfills every requirement of Review 1 and Review 2 with a fully functional, tested, and secure application. Thank you, and we welcome any questions from the evaluators.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5943600" cy="5029200"/>
          </a:xfrm>
          <a:prstGeom prst="rect">
            <a:avLst/>
          </a:prstGeom>
          <a:noFill/>
        </p:spPr>
        <p:txBody>
          <a:bodyPr wrap="square">
            <a:spAutoFit/>
          </a:bodyPr>
          <a:lstStyle/>
          <a:p>
            <a:pPr>
              <a:spcAft>
                <a:spcPts val="1600"/>
              </a:spcAft>
              <a:defRPr sz="1200" b="1">
                <a:solidFill>
                  <a:srgbClr val="10B981"/>
                </a:solidFill>
              </a:defRPr>
            </a:pPr>
            <a:r>
              <a:t>ACADEMIC PROJECT EVALUATION  ·  REVIEW 1 &amp; 2</a:t>
            </a:r>
          </a:p>
          <a:p>
            <a:pPr>
              <a:spcAft>
                <a:spcPts val="1400"/>
              </a:spcAft>
              <a:defRPr sz="4000" b="1">
                <a:solidFill>
                  <a:srgbClr val="FFFFFF"/>
                </a:solidFill>
              </a:defRPr>
            </a:pPr>
            <a:r>
              <a:t>Campus Library</a:t>
            </a:r>
            <a:br/>
            <a:r>
              <a:t>Management System</a:t>
            </a:r>
          </a:p>
          <a:p>
            <a:pPr>
              <a:spcAft>
                <a:spcPts val="2800"/>
              </a:spcAft>
              <a:defRPr sz="1800">
                <a:solidFill>
                  <a:srgbClr val="CBD5E1"/>
                </a:solidFill>
              </a:defRPr>
            </a:pPr>
            <a:r>
              <a:t>Copy-Level Circulation with Embedded Total Quality Management (TQM)</a:t>
            </a:r>
          </a:p>
          <a:p>
            <a:pPr>
              <a:spcAft>
                <a:spcPts val="800"/>
              </a:spcAft>
              <a:defRPr sz="1300" b="1">
                <a:solidFill>
                  <a:srgbClr val="EA580C"/>
                </a:solidFill>
              </a:defRPr>
            </a:pPr>
            <a:r>
              <a:t>✨ 100% Working Web Application  ·  64/64 Automated Tests Passing</a:t>
            </a:r>
          </a:p>
          <a:p>
            <a:pPr>
              <a:defRPr sz="1200">
                <a:solidFill>
                  <a:srgbClr val="94A3B8"/>
                </a:solidFill>
              </a:defRPr>
            </a:pPr>
            <a:r>
              <a:t>Tech Stack: Python 3.10+ · Flask 3.1 · SQLAlchemy · SQLite/PostgreSQL · Bootstrap 5</a:t>
            </a:r>
          </a:p>
        </p:txBody>
      </p:sp>
      <p:sp>
        <p:nvSpPr>
          <p:cNvPr id="4" name="Rounded Rectangle 3"/>
          <p:cNvSpPr/>
          <p:nvPr/>
        </p:nvSpPr>
        <p:spPr>
          <a:xfrm>
            <a:off x="6858000" y="914400"/>
            <a:ext cx="4572000" cy="50292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hero_anime.jpg"/>
          <p:cNvPicPr>
            <a:picLocks noChangeAspect="1"/>
          </p:cNvPicPr>
          <p:nvPr/>
        </p:nvPicPr>
        <p:blipFill>
          <a:blip r:embed="rId2"/>
          <a:stretch>
            <a:fillRect/>
          </a:stretch>
        </p:blipFill>
        <p:spPr>
          <a:xfrm>
            <a:off x="6995160" y="1051560"/>
            <a:ext cx="4297680" cy="3840480"/>
          </a:xfrm>
          <a:prstGeom prst="rect">
            <a:avLst/>
          </a:prstGeom>
        </p:spPr>
      </p:pic>
      <p:sp>
        <p:nvSpPr>
          <p:cNvPr id="6" name="Rounded Rectangle 5"/>
          <p:cNvSpPr/>
          <p:nvPr/>
        </p:nvSpPr>
        <p:spPr>
          <a:xfrm>
            <a:off x="7132320" y="4297680"/>
            <a:ext cx="2011680" cy="384048"/>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 64 Tests Passing</a:t>
            </a:r>
          </a:p>
        </p:txBody>
      </p:sp>
      <p:sp>
        <p:nvSpPr>
          <p:cNvPr id="7" name="Rounded Rectangle 6"/>
          <p:cNvSpPr/>
          <p:nvPr/>
        </p:nvSpPr>
        <p:spPr>
          <a:xfrm>
            <a:off x="9326880" y="4297680"/>
            <a:ext cx="1828800" cy="384048"/>
          </a:xfrm>
          <a:prstGeom prst="round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 ACID Locks</a:t>
            </a:r>
          </a:p>
        </p:txBody>
      </p:sp>
      <p:sp>
        <p:nvSpPr>
          <p:cNvPr id="8" name="TextBox 7"/>
          <p:cNvSpPr txBox="1"/>
          <p:nvPr/>
        </p:nvSpPr>
        <p:spPr>
          <a:xfrm>
            <a:off x="6995160" y="5074920"/>
            <a:ext cx="4297680" cy="548640"/>
          </a:xfrm>
          <a:prstGeom prst="rect">
            <a:avLst/>
          </a:prstGeom>
          <a:noFill/>
        </p:spPr>
        <p:txBody>
          <a:bodyPr wrap="none">
            <a:spAutoFit/>
          </a:bodyPr>
          <a:lstStyle/>
          <a:p>
            <a:pPr algn="ctr">
              <a:defRPr sz="1100">
                <a:solidFill>
                  <a:srgbClr val="94A3B8"/>
                </a:solidFill>
              </a:defRPr>
            </a:pPr>
            <a:r>
              <a:t>Modern Digital Campus Library</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347472"/>
          </a:xfrm>
          <a:prstGeom prst="roundRect">
            <a:avLst/>
          </a:prstGeom>
          <a:solidFill>
            <a:srgbClr val="ECF4F0"/>
          </a:solidFill>
          <a:ln w="1270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1B4332"/>
                </a:solidFill>
              </a:defRPr>
            </a:pPr>
            <a:r>
              <a:t>  📌  REVIEW 1 · PROBLEM STATEMENT  </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400" b="1">
                <a:solidFill>
                  <a:srgbClr val="0F172A"/>
                </a:solidFill>
              </a:defRPr>
            </a:pPr>
            <a:r>
              <a:t>Why Traditional Campus Libraries Struggle</a:t>
            </a:r>
          </a:p>
        </p:txBody>
      </p:sp>
      <p:sp>
        <p:nvSpPr>
          <p:cNvPr id="5" name="Rounded Rectangle 4"/>
          <p:cNvSpPr/>
          <p:nvPr/>
        </p:nvSpPr>
        <p:spPr>
          <a:xfrm>
            <a:off x="731520" y="1463040"/>
            <a:ext cx="548640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spcAft>
                <a:spcPts val="600"/>
              </a:spcAft>
              <a:defRPr sz="1500" b="1">
                <a:solidFill>
                  <a:srgbClr val="E11D48"/>
                </a:solidFill>
              </a:defRPr>
            </a:pPr>
            <a:r>
              <a:t>❌  Physical Copy Blindspots</a:t>
            </a:r>
          </a:p>
          <a:p>
            <a:pPr>
              <a:defRPr sz="1200">
                <a:solidFill>
                  <a:srgbClr val="1E293B"/>
                </a:solidFill>
              </a:defRPr>
            </a:pPr>
            <a:r>
              <a:t>Old systems count total books, not individual copies. When a book is lost or damaged, nobody knows which specific copy is missing.</a:t>
            </a:r>
          </a:p>
        </p:txBody>
      </p:sp>
      <p:sp>
        <p:nvSpPr>
          <p:cNvPr id="6" name="Rounded Rectangle 5"/>
          <p:cNvSpPr/>
          <p:nvPr/>
        </p:nvSpPr>
        <p:spPr>
          <a:xfrm>
            <a:off x="731520" y="3108960"/>
            <a:ext cx="548640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spcAft>
                <a:spcPts val="600"/>
              </a:spcAft>
              <a:defRPr sz="1500" b="1">
                <a:solidFill>
                  <a:srgbClr val="EA580C"/>
                </a:solidFill>
              </a:defRPr>
            </a:pPr>
            <a:r>
              <a:t>⏳  Peak-Hour Circulation Friction</a:t>
            </a:r>
          </a:p>
          <a:p>
            <a:pPr>
              <a:defRPr sz="1200">
                <a:solidFill>
                  <a:srgbClr val="1E293B"/>
                </a:solidFill>
              </a:defRPr>
            </a:pPr>
            <a:r>
              <a:t>Slow manual checkouts create long student lines at the desk. Fines are calculated by hand or forgotten completely.</a:t>
            </a:r>
          </a:p>
        </p:txBody>
      </p:sp>
      <p:sp>
        <p:nvSpPr>
          <p:cNvPr id="7" name="Rounded Rectangle 6"/>
          <p:cNvSpPr/>
          <p:nvPr/>
        </p:nvSpPr>
        <p:spPr>
          <a:xfrm>
            <a:off x="731520" y="4754880"/>
            <a:ext cx="548640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spcAft>
                <a:spcPts val="600"/>
              </a:spcAft>
              <a:defRPr sz="1500" b="1">
                <a:solidFill>
                  <a:srgbClr val="1B4332"/>
                </a:solidFill>
              </a:defRPr>
            </a:pPr>
            <a:r>
              <a:t>📉  Zero Quality Feedback Loop</a:t>
            </a:r>
          </a:p>
          <a:p>
            <a:pPr>
              <a:defRPr sz="1200">
                <a:solidFill>
                  <a:srgbClr val="1E293B"/>
                </a:solidFill>
              </a:defRPr>
            </a:pPr>
            <a:r>
              <a:t>Student complaints go into a void. Libraries do not use root-cause analysis (Ishikawa/5-Whys) to fix recurring service defects.</a:t>
            </a:r>
          </a:p>
        </p:txBody>
      </p:sp>
      <p:pic>
        <p:nvPicPr>
          <p:cNvPr id="8" name="Picture 7" descr="reading-book.jpg"/>
          <p:cNvPicPr>
            <a:picLocks noChangeAspect="1"/>
          </p:cNvPicPr>
          <p:nvPr/>
        </p:nvPicPr>
        <p:blipFill>
          <a:blip r:embed="rId2"/>
          <a:stretch>
            <a:fillRect/>
          </a:stretch>
        </p:blipFill>
        <p:spPr>
          <a:xfrm>
            <a:off x="6675120" y="1463040"/>
            <a:ext cx="4754880" cy="4754880"/>
          </a:xfrm>
          <a:prstGeom prst="rect">
            <a:avLst/>
          </a:prstGeom>
        </p:spPr>
      </p:pic>
      <p:sp>
        <p:nvSpPr>
          <p:cNvPr id="9" name="Rounded Rectangle 8"/>
          <p:cNvSpPr/>
          <p:nvPr/>
        </p:nvSpPr>
        <p:spPr>
          <a:xfrm>
            <a:off x="6949440" y="5486400"/>
            <a:ext cx="4206240" cy="438912"/>
          </a:xfrm>
          <a:prstGeom prst="roundRect">
            <a:avLst/>
          </a:prstGeom>
          <a:solidFill>
            <a:srgbClr val="1B43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 Solution: 100% Barcoded Copies &amp; TQM Feedback</a:t>
            </a:r>
          </a:p>
        </p:txBody>
      </p:sp>
    </p:spTree>
  </p:cSld>
  <p:clrMapOvr>
    <a:masterClrMapping/>
  </p:clrMapOvr>
  <p:transition spd="med">
    <p:push/>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347472"/>
          </a:xfrm>
          <a:prstGeom prst="roundRect">
            <a:avLst/>
          </a:prstGeom>
          <a:solidFill>
            <a:srgbClr val="ECF4F0"/>
          </a:solidFill>
          <a:ln w="1270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1B4332"/>
                </a:solidFill>
              </a:defRPr>
            </a:pPr>
            <a:r>
              <a:t>  📌  REVIEW 1 · QUALITY OBJECTIVES  </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400" b="1">
                <a:solidFill>
                  <a:srgbClr val="0F172A"/>
                </a:solidFill>
              </a:defRPr>
            </a:pPr>
            <a:r>
              <a:t>Target Metrics &amp; TQM Quality Goals</a:t>
            </a:r>
          </a:p>
        </p:txBody>
      </p:sp>
      <p:sp>
        <p:nvSpPr>
          <p:cNvPr id="5" name="Rounded Rectangle 4"/>
          <p:cNvSpPr/>
          <p:nvPr/>
        </p:nvSpPr>
        <p:spPr>
          <a:xfrm>
            <a:off x="731520" y="1463040"/>
            <a:ext cx="5120640" cy="2194560"/>
          </a:xfrm>
          <a:prstGeom prst="roundRect">
            <a:avLst/>
          </a:prstGeom>
          <a:solidFill>
            <a:srgbClr val="FFFFFF"/>
          </a:solidFill>
          <a:ln w="2540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defRPr sz="3600" b="1">
                <a:solidFill>
                  <a:srgbClr val="1B4332"/>
                </a:solidFill>
              </a:defRPr>
            </a:pPr>
            <a:r>
              <a:t>0.0% Loss</a:t>
            </a:r>
          </a:p>
          <a:p>
            <a:pPr>
              <a:defRPr sz="1400" b="1">
                <a:solidFill>
                  <a:srgbClr val="0F172A"/>
                </a:solidFill>
              </a:defRPr>
            </a:pPr>
            <a:r>
              <a:t>Zero Stock Discrepancy</a:t>
            </a:r>
          </a:p>
          <a:p>
            <a:pPr>
              <a:defRPr sz="1100">
                <a:solidFill>
                  <a:srgbClr val="64748B"/>
                </a:solidFill>
              </a:defRPr>
            </a:pPr>
            <a:r>
              <a:t>Every single book has its own unique barcode (LIB-00001-001) tracked in real time.</a:t>
            </a:r>
          </a:p>
        </p:txBody>
      </p:sp>
      <p:sp>
        <p:nvSpPr>
          <p:cNvPr id="6" name="Rounded Rectangle 5"/>
          <p:cNvSpPr/>
          <p:nvPr/>
        </p:nvSpPr>
        <p:spPr>
          <a:xfrm>
            <a:off x="6217920" y="1463040"/>
            <a:ext cx="5120640" cy="2194560"/>
          </a:xfrm>
          <a:prstGeom prst="roundRect">
            <a:avLst/>
          </a:prstGeom>
          <a:solidFill>
            <a:srgbClr val="FFFF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defRPr sz="3600" b="1">
                <a:solidFill>
                  <a:srgbClr val="6366F1"/>
                </a:solidFill>
              </a:defRPr>
            </a:pPr>
            <a:r>
              <a:t>&lt; 0.5 sec</a:t>
            </a:r>
          </a:p>
          <a:p>
            <a:pPr>
              <a:defRPr sz="1400" b="1">
                <a:solidFill>
                  <a:srgbClr val="0F172A"/>
                </a:solidFill>
              </a:defRPr>
            </a:pPr>
            <a:r>
              <a:t>Lightning Fast Checkouts</a:t>
            </a:r>
          </a:p>
          <a:p>
            <a:pPr>
              <a:defRPr sz="1100">
                <a:solidFill>
                  <a:srgbClr val="64748B"/>
                </a:solidFill>
              </a:defRPr>
            </a:pPr>
            <a:r>
              <a:t>Sub-second database-backed transactions eliminate peak-hour queue delays.</a:t>
            </a:r>
          </a:p>
        </p:txBody>
      </p:sp>
      <p:sp>
        <p:nvSpPr>
          <p:cNvPr id="7" name="Rounded Rectangle 6"/>
          <p:cNvSpPr/>
          <p:nvPr/>
        </p:nvSpPr>
        <p:spPr>
          <a:xfrm>
            <a:off x="731520" y="3931920"/>
            <a:ext cx="5120640" cy="2194560"/>
          </a:xfrm>
          <a:prstGeom prst="roundRect">
            <a:avLst/>
          </a:prstGeom>
          <a:solidFill>
            <a:srgbClr val="FFFFFF"/>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defRPr sz="3600" b="1">
                <a:solidFill>
                  <a:srgbClr val="EA580C"/>
                </a:solidFill>
              </a:defRPr>
            </a:pPr>
            <a:r>
              <a:t>4.8 ★ / 5.0</a:t>
            </a:r>
          </a:p>
          <a:p>
            <a:pPr>
              <a:defRPr sz="1400" b="1">
                <a:solidFill>
                  <a:srgbClr val="0F172A"/>
                </a:solidFill>
              </a:defRPr>
            </a:pPr>
            <a:r>
              <a:t>Student Satisfaction Goal</a:t>
            </a:r>
          </a:p>
          <a:p>
            <a:pPr>
              <a:defRPr sz="1100">
                <a:solidFill>
                  <a:srgbClr val="64748B"/>
                </a:solidFill>
              </a:defRPr>
            </a:pPr>
            <a:r>
              <a:t>Real Voice of Customer (VoC) ratings submitted across 6 library service areas.</a:t>
            </a:r>
          </a:p>
        </p:txBody>
      </p:sp>
      <p:sp>
        <p:nvSpPr>
          <p:cNvPr id="8" name="Rounded Rectangle 7"/>
          <p:cNvSpPr/>
          <p:nvPr/>
        </p:nvSpPr>
        <p:spPr>
          <a:xfrm>
            <a:off x="6217920" y="3931920"/>
            <a:ext cx="5120640" cy="2194560"/>
          </a:xfrm>
          <a:prstGeom prst="roundRect">
            <a:avLst/>
          </a:prstGeom>
          <a:solidFill>
            <a:srgbClr val="FFFFFF"/>
          </a:solidFill>
          <a:ln w="2540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defRPr sz="3600" b="1">
                <a:solidFill>
                  <a:srgbClr val="E11D48"/>
                </a:solidFill>
              </a:defRPr>
            </a:pPr>
            <a:r>
              <a:t>100% Fixed</a:t>
            </a:r>
          </a:p>
          <a:p>
            <a:pPr>
              <a:defRPr sz="1400" b="1">
                <a:solidFill>
                  <a:srgbClr val="0F172A"/>
                </a:solidFill>
              </a:defRPr>
            </a:pPr>
            <a:r>
              <a:t>Closed-Loop TQM Resolution</a:t>
            </a:r>
          </a:p>
          <a:p>
            <a:pPr>
              <a:defRPr sz="1100">
                <a:solidFill>
                  <a:srgbClr val="64748B"/>
                </a:solidFill>
              </a:defRPr>
            </a:pPr>
            <a:r>
              <a:t>Every complaint requires an Ishikawa Fishbone &amp; 5-Whys root-cause fix before closing.</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347472"/>
          </a:xfrm>
          <a:prstGeom prst="roundRect">
            <a:avLst/>
          </a:prstGeom>
          <a:solidFill>
            <a:srgbClr val="ECF4F0"/>
          </a:solidFill>
          <a:ln w="1270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1B4332"/>
                </a:solidFill>
              </a:defRPr>
            </a:pPr>
            <a:r>
              <a:t>  📌  REVIEW 1 · USER ROLES &amp; SCOPE  </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400" b="1">
                <a:solidFill>
                  <a:srgbClr val="0F172A"/>
                </a:solidFill>
              </a:defRPr>
            </a:pPr>
            <a:r>
              <a:t>Three Isolated Roles for Seamless Operations</a:t>
            </a:r>
          </a:p>
        </p:txBody>
      </p:sp>
      <p:sp>
        <p:nvSpPr>
          <p:cNvPr id="5" name="Rounded Rectangle 4"/>
          <p:cNvSpPr/>
          <p:nvPr/>
        </p:nvSpPr>
        <p:spPr>
          <a:xfrm>
            <a:off x="731520" y="1463040"/>
            <a:ext cx="3291840" cy="4754880"/>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defRPr sz="1600" b="1">
                <a:solidFill>
                  <a:srgbClr val="E11D48"/>
                </a:solidFill>
              </a:defRPr>
            </a:pPr>
            <a:r>
              <a:t>🎒  Student / Member</a:t>
            </a:r>
          </a:p>
          <a:p>
            <a:pPr>
              <a:spcAft>
                <a:spcPts val="1000"/>
              </a:spcAft>
              <a:defRPr sz="1000" i="1">
                <a:solidFill>
                  <a:srgbClr val="64748B"/>
                </a:solidFill>
              </a:defRPr>
            </a:pPr>
            <a:r>
              <a:t>Portal: /login/student</a:t>
            </a:r>
          </a:p>
          <a:p>
            <a:pPr>
              <a:spcAft>
                <a:spcPts val="500"/>
              </a:spcAft>
              <a:defRPr sz="1100">
                <a:solidFill>
                  <a:srgbClr val="1E293B"/>
                </a:solidFill>
              </a:defRPr>
            </a:pPr>
            <a:r>
              <a:t>•  Search books by course &amp; semester</a:t>
            </a:r>
          </a:p>
          <a:p>
            <a:pPr>
              <a:spcAft>
                <a:spcPts val="500"/>
              </a:spcAft>
              <a:defRPr sz="1100">
                <a:solidFill>
                  <a:srgbClr val="1E293B"/>
                </a:solidFill>
              </a:defRPr>
            </a:pPr>
            <a:r>
              <a:t>•  Reserve unavailable books (FIFO waitlist)</a:t>
            </a:r>
          </a:p>
          <a:p>
            <a:pPr>
              <a:spcAft>
                <a:spcPts val="500"/>
              </a:spcAft>
              <a:defRPr sz="1100">
                <a:solidFill>
                  <a:srgbClr val="1E293B"/>
                </a:solidFill>
              </a:defRPr>
            </a:pPr>
            <a:r>
              <a:t>•  Track active loans, due dates &amp; fines</a:t>
            </a:r>
          </a:p>
          <a:p>
            <a:pPr>
              <a:spcAft>
                <a:spcPts val="500"/>
              </a:spcAft>
              <a:defRPr sz="1100">
                <a:solidFill>
                  <a:srgbClr val="1E293B"/>
                </a:solidFill>
              </a:defRPr>
            </a:pPr>
            <a:r>
              <a:t>•  Rate library service (1 to 5 stars)</a:t>
            </a:r>
          </a:p>
          <a:p>
            <a:pPr>
              <a:spcAft>
                <a:spcPts val="500"/>
              </a:spcAft>
              <a:defRPr sz="1100">
                <a:solidFill>
                  <a:srgbClr val="1E293B"/>
                </a:solidFill>
              </a:defRPr>
            </a:pPr>
            <a:r>
              <a:t>•  File complaints &amp; receive alerts</a:t>
            </a:r>
          </a:p>
        </p:txBody>
      </p:sp>
      <p:sp>
        <p:nvSpPr>
          <p:cNvPr id="6" name="Rounded Rectangle 5"/>
          <p:cNvSpPr/>
          <p:nvPr/>
        </p:nvSpPr>
        <p:spPr>
          <a:xfrm>
            <a:off x="4389120" y="1463040"/>
            <a:ext cx="3291840" cy="4754880"/>
          </a:xfrm>
          <a:prstGeom prst="roundRect">
            <a:avLst/>
          </a:prstGeom>
          <a:solidFill>
            <a:srgbClr val="FFFFFF"/>
          </a:solidFill>
          <a:ln w="1905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defRPr sz="1600" b="1">
                <a:solidFill>
                  <a:srgbClr val="1B4332"/>
                </a:solidFill>
              </a:defRPr>
            </a:pPr>
            <a:r>
              <a:t>🔍  Quality Manager</a:t>
            </a:r>
          </a:p>
          <a:p>
            <a:pPr>
              <a:spcAft>
                <a:spcPts val="1000"/>
              </a:spcAft>
              <a:defRPr sz="1000" i="1">
                <a:solidFill>
                  <a:srgbClr val="64748B"/>
                </a:solidFill>
              </a:defRPr>
            </a:pPr>
            <a:r>
              <a:t>Portal: /quality/</a:t>
            </a:r>
          </a:p>
          <a:p>
            <a:pPr>
              <a:spcAft>
                <a:spcPts val="500"/>
              </a:spcAft>
              <a:defRPr sz="1100">
                <a:solidFill>
                  <a:srgbClr val="1E293B"/>
                </a:solidFill>
              </a:defRPr>
            </a:pPr>
            <a:r>
              <a:t>•  Live TQM KPI Dashboard</a:t>
            </a:r>
          </a:p>
          <a:p>
            <a:pPr>
              <a:spcAft>
                <a:spcPts val="500"/>
              </a:spcAft>
              <a:defRPr sz="1100">
                <a:solidFill>
                  <a:srgbClr val="1E293B"/>
                </a:solidFill>
              </a:defRPr>
            </a:pPr>
            <a:r>
              <a:t>•  Pareto 80/20 Defect Analysis</a:t>
            </a:r>
          </a:p>
          <a:p>
            <a:pPr>
              <a:spcAft>
                <a:spcPts val="500"/>
              </a:spcAft>
              <a:defRPr sz="1100">
                <a:solidFill>
                  <a:srgbClr val="1E293B"/>
                </a:solidFill>
              </a:defRPr>
            </a:pPr>
            <a:r>
              <a:t>•  Ishikawa (6M Fishbone) &amp; 5-Whys</a:t>
            </a:r>
          </a:p>
          <a:p>
            <a:pPr>
              <a:spcAft>
                <a:spcPts val="500"/>
              </a:spcAft>
              <a:defRPr sz="1100">
                <a:solidFill>
                  <a:srgbClr val="1E293B"/>
                </a:solidFill>
              </a:defRPr>
            </a:pPr>
            <a:r>
              <a:t>•  Kaizen Action Register with deadlines</a:t>
            </a:r>
          </a:p>
          <a:p>
            <a:pPr>
              <a:spcAft>
                <a:spcPts val="500"/>
              </a:spcAft>
              <a:defRPr sz="1100">
                <a:solidFill>
                  <a:srgbClr val="1E293B"/>
                </a:solidFill>
              </a:defRPr>
            </a:pPr>
            <a:r>
              <a:t>•  Stage-Gated Deming PDCA cycles</a:t>
            </a:r>
          </a:p>
        </p:txBody>
      </p:sp>
      <p:sp>
        <p:nvSpPr>
          <p:cNvPr id="7" name="Rounded Rectangle 6"/>
          <p:cNvSpPr/>
          <p:nvPr/>
        </p:nvSpPr>
        <p:spPr>
          <a:xfrm>
            <a:off x="8046720" y="1463040"/>
            <a:ext cx="3291840" cy="4754880"/>
          </a:xfrm>
          <a:prstGeom prst="roundRect">
            <a:avLst/>
          </a:prstGeom>
          <a:solidFill>
            <a:srgbClr val="FFFF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defRPr sz="1600" b="1">
                <a:solidFill>
                  <a:srgbClr val="6366F1"/>
                </a:solidFill>
              </a:defRPr>
            </a:pPr>
            <a:r>
              <a:t>🏛️  Admin / Librarian</a:t>
            </a:r>
          </a:p>
          <a:p>
            <a:pPr>
              <a:spcAft>
                <a:spcPts val="1000"/>
              </a:spcAft>
              <a:defRPr sz="1000" i="1">
                <a:solidFill>
                  <a:srgbClr val="64748B"/>
                </a:solidFill>
              </a:defRPr>
            </a:pPr>
            <a:r>
              <a:t>Portal: /library/</a:t>
            </a:r>
          </a:p>
          <a:p>
            <a:pPr>
              <a:spcAft>
                <a:spcPts val="500"/>
              </a:spcAft>
              <a:defRPr sz="1100">
                <a:solidFill>
                  <a:srgbClr val="1E293B"/>
                </a:solidFill>
              </a:defRPr>
            </a:pPr>
            <a:r>
              <a:t>•  Issue &amp; Return circulation desk</a:t>
            </a:r>
          </a:p>
          <a:p>
            <a:pPr>
              <a:spcAft>
                <a:spcPts val="500"/>
              </a:spcAft>
              <a:defRPr sz="1100">
                <a:solidFill>
                  <a:srgbClr val="1E293B"/>
                </a:solidFill>
              </a:defRPr>
            </a:pPr>
            <a:r>
              <a:t>•  Manage barcoded copy statuses</a:t>
            </a:r>
          </a:p>
          <a:p>
            <a:pPr>
              <a:spcAft>
                <a:spcPts val="500"/>
              </a:spcAft>
              <a:defRPr sz="1100">
                <a:solidFill>
                  <a:srgbClr val="1E293B"/>
                </a:solidFill>
              </a:defRPr>
            </a:pPr>
            <a:r>
              <a:t>•  Bulk import books via CSV (up to 10k)</a:t>
            </a:r>
          </a:p>
          <a:p>
            <a:pPr>
              <a:spcAft>
                <a:spcPts val="500"/>
              </a:spcAft>
              <a:defRPr sz="1100">
                <a:solidFill>
                  <a:srgbClr val="1E293B"/>
                </a:solidFill>
              </a:defRPr>
            </a:pPr>
            <a:r>
              <a:t>•  Manage student &amp; staff accounts</a:t>
            </a:r>
          </a:p>
          <a:p>
            <a:pPr>
              <a:spcAft>
                <a:spcPts val="500"/>
              </a:spcAft>
              <a:defRPr sz="1100">
                <a:solidFill>
                  <a:srgbClr val="1E293B"/>
                </a:solidFill>
              </a:defRPr>
            </a:pPr>
            <a:r>
              <a:t>•  Generate CSV, Excel &amp; PDF reports</a:t>
            </a:r>
          </a:p>
        </p:txBody>
      </p:sp>
    </p:spTree>
  </p:cSld>
  <p:clrMapOvr>
    <a:masterClrMapping/>
  </p:clrMapOvr>
  <p:transition spd="med">
    <p:push/>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347472"/>
          </a:xfrm>
          <a:prstGeom prst="roundRect">
            <a:avLst/>
          </a:prstGeom>
          <a:solidFill>
            <a:srgbClr val="ECF4F0"/>
          </a:solidFill>
          <a:ln w="1270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1B4332"/>
                </a:solidFill>
              </a:defRPr>
            </a:pPr>
            <a:r>
              <a:t>  📌  REVIEW 1 · ARCHITECTURE &amp; DATABASE  </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400" b="1">
                <a:solidFill>
                  <a:srgbClr val="0F172A"/>
                </a:solidFill>
              </a:defRPr>
            </a:pPr>
            <a:r>
              <a:t>Modular Software Architecture &amp; Relational Design</a:t>
            </a:r>
          </a:p>
        </p:txBody>
      </p:sp>
      <p:sp>
        <p:nvSpPr>
          <p:cNvPr id="5" name="Rounded Rectangle 4"/>
          <p:cNvSpPr/>
          <p:nvPr/>
        </p:nvSpPr>
        <p:spPr>
          <a:xfrm>
            <a:off x="731520" y="1463040"/>
            <a:ext cx="548640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spcAft>
                <a:spcPts val="600"/>
              </a:spcAft>
              <a:defRPr sz="1500" b="1">
                <a:solidFill>
                  <a:srgbClr val="0F172A"/>
                </a:solidFill>
              </a:defRPr>
            </a:pPr>
            <a:r>
              <a:t>🏗️  Modular Blueprint Architecture</a:t>
            </a:r>
          </a:p>
          <a:p>
            <a:pPr>
              <a:defRPr sz="1200">
                <a:solidFill>
                  <a:srgbClr val="1E293B"/>
                </a:solidFill>
              </a:defRPr>
            </a:pPr>
            <a:r>
              <a:t>• Frontend: Responsive Bootstrap 5 + Chart.js</a:t>
            </a:r>
            <a:br/>
            <a:r>
              <a:t>• Blueprints: auth, catalog, quality, reports, main</a:t>
            </a:r>
            <a:br/>
            <a:r>
              <a:t>• Service Layer: Atomic transactions &amp; business logic</a:t>
            </a:r>
            <a:br/>
            <a:r>
              <a:t>• ORM: SQLAlchemy 2.1 with full Foreign Keys</a:t>
            </a:r>
            <a:br/>
            <a:r>
              <a:t>• Database: SQLite (local demo) / PostgreSQL (production)</a:t>
            </a:r>
            <a:br/>
            <a:r>
              <a:t>• Security: CSRF protection on all forms + Werkzeug password hashing</a:t>
            </a:r>
            <a:br/>
            <a:br/>
            <a:r>
              <a:t>✨ Clean separation makes adding new features easy without breaking existing code.</a:t>
            </a:r>
          </a:p>
        </p:txBody>
      </p:sp>
      <p:pic>
        <p:nvPicPr>
          <p:cNvPr id="6" name="Picture 5" descr="library-shelves.jpg"/>
          <p:cNvPicPr>
            <a:picLocks noChangeAspect="1"/>
          </p:cNvPicPr>
          <p:nvPr/>
        </p:nvPicPr>
        <p:blipFill>
          <a:blip r:embed="rId2"/>
          <a:stretch>
            <a:fillRect/>
          </a:stretch>
        </p:blipFill>
        <p:spPr>
          <a:xfrm>
            <a:off x="6675120" y="1463040"/>
            <a:ext cx="4754880" cy="3108960"/>
          </a:xfrm>
          <a:prstGeom prst="rect">
            <a:avLst/>
          </a:prstGeom>
        </p:spPr>
      </p:pic>
      <p:sp>
        <p:nvSpPr>
          <p:cNvPr id="7" name="Rounded Rectangle 6"/>
          <p:cNvSpPr/>
          <p:nvPr/>
        </p:nvSpPr>
        <p:spPr>
          <a:xfrm>
            <a:off x="6675120" y="4754880"/>
            <a:ext cx="47548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spcAft>
                <a:spcPts val="600"/>
              </a:spcAft>
              <a:defRPr sz="1500" b="1">
                <a:solidFill>
                  <a:srgbClr val="1B4332"/>
                </a:solidFill>
              </a:defRPr>
            </a:pPr>
            <a:r>
              <a:t>🗄️  14 Normalized Database Tables</a:t>
            </a:r>
          </a:p>
          <a:p>
            <a:pPr>
              <a:defRPr sz="1200">
                <a:solidFill>
                  <a:srgbClr val="1E293B"/>
                </a:solidFill>
              </a:defRPr>
            </a:pPr>
            <a:r>
              <a:t>Copy-Level Tracking: 1 Book ➔ Multiple unique Barcoded Copies. Foreign keys, check constraints, and partial unique indexes prevent double loans.</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347472"/>
          </a:xfrm>
          <a:prstGeom prst="roundRect">
            <a:avLst/>
          </a:prstGeom>
          <a:solidFill>
            <a:srgbClr val="1E3A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10B981"/>
                </a:solidFill>
              </a:defRPr>
            </a:pPr>
            <a:r>
              <a:t>  📌  REVIEW 2 · IMPLEMENTATION MILESTONE  </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400" b="1">
                <a:solidFill>
                  <a:srgbClr val="FFFFFF"/>
                </a:solidFill>
              </a:defRPr>
            </a:pPr>
            <a:r>
              <a:t>100% Working Web Application (Live Demonstration)</a:t>
            </a:r>
          </a:p>
        </p:txBody>
      </p:sp>
      <p:sp>
        <p:nvSpPr>
          <p:cNvPr id="5" name="Rounded Rectangle 4"/>
          <p:cNvSpPr/>
          <p:nvPr/>
        </p:nvSpPr>
        <p:spPr>
          <a:xfrm>
            <a:off x="731520" y="1463040"/>
            <a:ext cx="530352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spcAft>
                <a:spcPts val="600"/>
              </a:spcAft>
              <a:defRPr sz="1500" b="1">
                <a:solidFill>
                  <a:srgbClr val="10B981"/>
                </a:solidFill>
              </a:defRPr>
            </a:pPr>
            <a:r>
              <a:t>⚡  Fully Operational &amp; Test-Verified</a:t>
            </a:r>
          </a:p>
          <a:p>
            <a:pPr>
              <a:defRPr sz="1200">
                <a:solidFill>
                  <a:srgbClr val="E2E8F0"/>
                </a:solidFill>
              </a:defRPr>
            </a:pPr>
            <a:r>
              <a:t>• Live Server: Running locally on http://127.0.0.1:5000</a:t>
            </a:r>
            <a:br/>
            <a:br/>
            <a:r>
              <a:t>• /healthz Probe: Returns HTTP 200 OK with verified DB connectivity</a:t>
            </a:r>
            <a:br/>
            <a:br/>
            <a:r>
              <a:t>• Zero Mockups: Every single button, form, filter, and table is tied directly to real database rows</a:t>
            </a:r>
            <a:br/>
            <a:br/>
            <a:r>
              <a:t>• Multi-Theme UI: High-contrast toggle, Forest Green, Light, and Dark themes with keyboard shortcuts (/ to search)</a:t>
            </a:r>
            <a:br/>
            <a:br/>
            <a:r>
              <a:t>• 64/64 Pytest Passed: All core workflows and edge cases automated and verified.</a:t>
            </a:r>
          </a:p>
        </p:txBody>
      </p:sp>
      <p:pic>
        <p:nvPicPr>
          <p:cNvPr id="6" name="Picture 5" descr="study-room.jpg"/>
          <p:cNvPicPr>
            <a:picLocks noChangeAspect="1"/>
          </p:cNvPicPr>
          <p:nvPr/>
        </p:nvPicPr>
        <p:blipFill>
          <a:blip r:embed="rId2"/>
          <a:stretch>
            <a:fillRect/>
          </a:stretch>
        </p:blipFill>
        <p:spPr>
          <a:xfrm>
            <a:off x="6400800" y="1463040"/>
            <a:ext cx="5029200" cy="4754880"/>
          </a:xfrm>
          <a:prstGeom prst="rect">
            <a:avLst/>
          </a:prstGeom>
        </p:spPr>
      </p:pic>
      <p:sp>
        <p:nvSpPr>
          <p:cNvPr id="7" name="Rounded Rectangle 6"/>
          <p:cNvSpPr/>
          <p:nvPr/>
        </p:nvSpPr>
        <p:spPr>
          <a:xfrm>
            <a:off x="6675120" y="5394960"/>
            <a:ext cx="4480560" cy="4572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 Server Status: 200 OK (Port 5000)</a:t>
            </a:r>
          </a:p>
        </p:txBody>
      </p:sp>
    </p:spTree>
  </p:cSld>
  <p:clrMapOvr>
    <a:masterClrMapping/>
  </p:clrMapOvr>
  <p:transition spd="med">
    <p:push/>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347472"/>
          </a:xfrm>
          <a:prstGeom prst="roundRect">
            <a:avLst/>
          </a:prstGeom>
          <a:solidFill>
            <a:srgbClr val="ECF4F0"/>
          </a:solidFill>
          <a:ln w="1270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1B4332"/>
                </a:solidFill>
              </a:defRPr>
            </a:pPr>
            <a:r>
              <a:t>  📌  REVIEW 2 · CRUD CAPABILITIES  </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400" b="1">
                <a:solidFill>
                  <a:srgbClr val="0F172A"/>
                </a:solidFill>
              </a:defRPr>
            </a:pPr>
            <a:r>
              <a:t>Comprehensive CRUD Operations in Action</a:t>
            </a:r>
          </a:p>
        </p:txBody>
      </p:sp>
      <p:sp>
        <p:nvSpPr>
          <p:cNvPr id="5" name="Rounded Rectangle 4"/>
          <p:cNvSpPr/>
          <p:nvPr/>
        </p:nvSpPr>
        <p:spPr>
          <a:xfrm>
            <a:off x="731520" y="146304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spcAft>
                <a:spcPts val="600"/>
              </a:spcAft>
              <a:defRPr sz="1500" b="1">
                <a:solidFill>
                  <a:srgbClr val="1B4332"/>
                </a:solidFill>
              </a:defRPr>
            </a:pPr>
            <a:r>
              <a:t>📚  Catalog &amp; Copy CRUD</a:t>
            </a:r>
          </a:p>
          <a:p>
            <a:pPr>
              <a:defRPr sz="1200">
                <a:solidFill>
                  <a:srgbClr val="1E293B"/>
                </a:solidFill>
              </a:defRPr>
            </a:pPr>
            <a:r>
              <a:t>• Create: Add book + auto-generate unique barcodes</a:t>
            </a:r>
            <a:br/>
            <a:r>
              <a:t>• Read: Search by title, author, ISBN, course, semester</a:t>
            </a:r>
            <a:br/>
            <a:r>
              <a:t>• Update: Edit title, add stock, change copy status</a:t>
            </a:r>
            <a:br/>
            <a:r>
              <a:t>• Delete: Cascade guards prevent deleting loaned books</a:t>
            </a:r>
          </a:p>
        </p:txBody>
      </p:sp>
      <p:sp>
        <p:nvSpPr>
          <p:cNvPr id="6" name="Rounded Rectangle 5"/>
          <p:cNvSpPr/>
          <p:nvPr/>
        </p:nvSpPr>
        <p:spPr>
          <a:xfrm>
            <a:off x="6217920" y="146304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spcAft>
                <a:spcPts val="600"/>
              </a:spcAft>
              <a:defRPr sz="1500" b="1">
                <a:solidFill>
                  <a:srgbClr val="6366F1"/>
                </a:solidFill>
              </a:defRPr>
            </a:pPr>
            <a:r>
              <a:t>🔄  Circulation &amp; Loan CRUD</a:t>
            </a:r>
          </a:p>
          <a:p>
            <a:pPr>
              <a:defRPr sz="1200">
                <a:solidFill>
                  <a:srgbClr val="1E293B"/>
                </a:solidFill>
              </a:defRPr>
            </a:pPr>
            <a:r>
              <a:t>• Create: Atomic issue assigning copy to member</a:t>
            </a:r>
            <a:br/>
            <a:r>
              <a:t>• Read: Live loan register, overdues, student history</a:t>
            </a:r>
            <a:br/>
            <a:r>
              <a:t>• Update: Check-in, late fine calculation, hold flip</a:t>
            </a:r>
            <a:br/>
            <a:r>
              <a:t>• Delete: Audit history preserved permanently</a:t>
            </a:r>
          </a:p>
        </p:txBody>
      </p:sp>
      <p:sp>
        <p:nvSpPr>
          <p:cNvPr id="7" name="Rounded Rectangle 6"/>
          <p:cNvSpPr/>
          <p:nvPr/>
        </p:nvSpPr>
        <p:spPr>
          <a:xfrm>
            <a:off x="731520" y="393192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spcAft>
                <a:spcPts val="600"/>
              </a:spcAft>
              <a:defRPr sz="1500" b="1">
                <a:solidFill>
                  <a:srgbClr val="E11D48"/>
                </a:solidFill>
              </a:defRPr>
            </a:pPr>
            <a:r>
              <a:t>⭐  TQM &amp; Feedback CRUD</a:t>
            </a:r>
          </a:p>
          <a:p>
            <a:pPr>
              <a:defRPr sz="1200">
                <a:solidFill>
                  <a:srgbClr val="1E293B"/>
                </a:solidFill>
              </a:defRPr>
            </a:pPr>
            <a:r>
              <a:t>• Create: Submit 1–5 star ratings &amp; formal complaints</a:t>
            </a:r>
            <a:br/>
            <a:r>
              <a:t>• Read: Searchable registers with category filters</a:t>
            </a:r>
            <a:br/>
            <a:r>
              <a:t>• Update: Advance status (Open ➔ In Progress ➔ Closed)</a:t>
            </a:r>
            <a:br/>
            <a:r>
              <a:t>• Delete: Real-time student in-app notifications on update</a:t>
            </a:r>
          </a:p>
        </p:txBody>
      </p:sp>
      <p:sp>
        <p:nvSpPr>
          <p:cNvPr id="8" name="Rounded Rectangle 7"/>
          <p:cNvSpPr/>
          <p:nvPr/>
        </p:nvSpPr>
        <p:spPr>
          <a:xfrm>
            <a:off x="6217920" y="3931920"/>
            <a:ext cx="512064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spcAft>
                <a:spcPts val="600"/>
              </a:spcAft>
              <a:defRPr sz="1500" b="1">
                <a:solidFill>
                  <a:srgbClr val="EA580C"/>
                </a:solidFill>
              </a:defRPr>
            </a:pPr>
            <a:r>
              <a:t>👥  User &amp; Admin CRUD</a:t>
            </a:r>
          </a:p>
          <a:p>
            <a:pPr>
              <a:defRPr sz="1200">
                <a:solidFill>
                  <a:srgbClr val="1E293B"/>
                </a:solidFill>
              </a:defRPr>
            </a:pPr>
            <a:r>
              <a:t>• Create: Self-registration &amp; CLI staff provisioning</a:t>
            </a:r>
            <a:br/>
            <a:r>
              <a:t>• Read: Full student directory with active loan counts</a:t>
            </a:r>
            <a:br/>
            <a:r>
              <a:t>• Update: Toggle member status, reset passwords</a:t>
            </a:r>
            <a:br/>
            <a:r>
              <a:t>• Delete: Instant session kill via auth_version counter</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347472"/>
          </a:xfrm>
          <a:prstGeom prst="roundRect">
            <a:avLst/>
          </a:prstGeom>
          <a:solidFill>
            <a:srgbClr val="ECF4F0"/>
          </a:solidFill>
          <a:ln w="1270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1B4332"/>
                </a:solidFill>
              </a:defRPr>
            </a:pPr>
            <a:r>
              <a:t>  📌  REVIEW 2 · MAIN SYSTEM WORKFLOW  </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400" b="1">
                <a:solidFill>
                  <a:srgbClr val="0F172A"/>
                </a:solidFill>
              </a:defRPr>
            </a:pPr>
            <a:r>
              <a:t>Circulation Pipeline: Scan, Issue, Return &amp; Holds</a:t>
            </a:r>
          </a:p>
        </p:txBody>
      </p:sp>
      <p:pic>
        <p:nvPicPr>
          <p:cNvPr id="5" name="Picture 4" descr="circulation_workflow.jpg"/>
          <p:cNvPicPr>
            <a:picLocks noChangeAspect="1"/>
          </p:cNvPicPr>
          <p:nvPr/>
        </p:nvPicPr>
        <p:blipFill>
          <a:blip r:embed="rId2"/>
          <a:stretch>
            <a:fillRect/>
          </a:stretch>
        </p:blipFill>
        <p:spPr>
          <a:xfrm>
            <a:off x="731520" y="1463040"/>
            <a:ext cx="4572000" cy="4754880"/>
          </a:xfrm>
          <a:prstGeom prst="rect">
            <a:avLst/>
          </a:prstGeom>
        </p:spPr>
      </p:pic>
      <p:sp>
        <p:nvSpPr>
          <p:cNvPr id="6" name="Rounded Rectangle 5"/>
          <p:cNvSpPr/>
          <p:nvPr/>
        </p:nvSpPr>
        <p:spPr>
          <a:xfrm>
            <a:off x="5486400" y="1463040"/>
            <a:ext cx="5943600" cy="1417320"/>
          </a:xfrm>
          <a:prstGeom prst="roundRect">
            <a:avLst/>
          </a:prstGeom>
          <a:solidFill>
            <a:srgbClr val="FFFFFF"/>
          </a:solidFill>
          <a:ln w="2540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sz="1300" b="1">
                <a:solidFill>
                  <a:srgbClr val="1B4332"/>
                </a:solidFill>
              </a:defRPr>
            </a:pPr>
            <a:r>
              <a:t>STEP 01  ·  Atomic Issue &amp; Duplicate Check</a:t>
            </a:r>
          </a:p>
          <a:p>
            <a:pPr>
              <a:defRPr sz="1100">
                <a:solidFill>
                  <a:srgbClr val="1E293B"/>
                </a:solidFill>
              </a:defRPr>
            </a:pPr>
            <a:r>
              <a:t>Staff selects member &amp; book. Database locks the row (with_for_update), verifies no duplicate active loan, and flips copy status to 'loaned'.</a:t>
            </a:r>
          </a:p>
        </p:txBody>
      </p:sp>
      <p:sp>
        <p:nvSpPr>
          <p:cNvPr id="7" name="Rounded Rectangle 6"/>
          <p:cNvSpPr/>
          <p:nvPr/>
        </p:nvSpPr>
        <p:spPr>
          <a:xfrm>
            <a:off x="5486400" y="3108960"/>
            <a:ext cx="5943600" cy="1417320"/>
          </a:xfrm>
          <a:prstGeom prst="roundRect">
            <a:avLst/>
          </a:prstGeom>
          <a:solidFill>
            <a:srgbClr val="FFFFFF"/>
          </a:solidFill>
          <a:ln w="254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sz="1300" b="1">
                <a:solidFill>
                  <a:srgbClr val="EA580C"/>
                </a:solidFill>
              </a:defRPr>
            </a:pPr>
            <a:r>
              <a:t>STEP 02  ·  Check-In &amp; Exact Late Fines</a:t>
            </a:r>
          </a:p>
          <a:p>
            <a:pPr>
              <a:defRPr sz="1100">
                <a:solidFill>
                  <a:srgbClr val="1E293B"/>
                </a:solidFill>
              </a:defRPr>
            </a:pPr>
            <a:r>
              <a:t>On return, system checks days late: (today - due_date). Fines are computed with exact Decimal math and recorded in the fine ledger.</a:t>
            </a:r>
          </a:p>
        </p:txBody>
      </p:sp>
      <p:sp>
        <p:nvSpPr>
          <p:cNvPr id="8" name="Rounded Rectangle 7"/>
          <p:cNvSpPr/>
          <p:nvPr/>
        </p:nvSpPr>
        <p:spPr>
          <a:xfrm>
            <a:off x="5486400" y="4754880"/>
            <a:ext cx="5943600" cy="1417320"/>
          </a:xfrm>
          <a:prstGeom prst="roundRect">
            <a:avLst/>
          </a:prstGeom>
          <a:solidFill>
            <a:srgbClr val="FFFF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sz="1300" b="1">
                <a:solidFill>
                  <a:srgbClr val="6366F1"/>
                </a:solidFill>
              </a:defRPr>
            </a:pPr>
            <a:r>
              <a:t>STEP 03  ·  Automatic FIFO Hold Allocation</a:t>
            </a:r>
          </a:p>
          <a:p>
            <a:pPr>
              <a:defRPr sz="1100">
                <a:solidFill>
                  <a:srgbClr val="1E293B"/>
                </a:solidFill>
              </a:defRPr>
            </a:pPr>
            <a:r>
              <a:t>If a student is waiting on the waitlist, copy status flips to 'reserved' and an alert is sent for pickup. If not, copy returns to available.</a:t>
            </a:r>
          </a:p>
        </p:txBody>
      </p:sp>
    </p:spTree>
  </p:cSld>
  <p:clrMapOvr>
    <a:masterClrMapping/>
  </p:clrMapOvr>
  <p:transition spd="med">
    <p:push/>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347472"/>
          </a:xfrm>
          <a:prstGeom prst="roundRect">
            <a:avLst/>
          </a:prstGeom>
          <a:solidFill>
            <a:srgbClr val="ECF4F0"/>
          </a:solidFill>
          <a:ln w="1270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1B4332"/>
                </a:solidFill>
              </a:defRPr>
            </a:pPr>
            <a:r>
              <a:t>  📌  REVIEW 2 · TQM IMPLEMENTATION  </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400" b="1">
                <a:solidFill>
                  <a:srgbClr val="0F172A"/>
                </a:solidFill>
              </a:defRPr>
            </a:pPr>
            <a:r>
              <a:t>Embedded Total Quality Management Tools</a:t>
            </a:r>
          </a:p>
        </p:txBody>
      </p:sp>
      <p:pic>
        <p:nvPicPr>
          <p:cNvPr id="5" name="Picture 4" descr="tqm_analytics.jpg"/>
          <p:cNvPicPr>
            <a:picLocks noChangeAspect="1"/>
          </p:cNvPicPr>
          <p:nvPr/>
        </p:nvPicPr>
        <p:blipFill>
          <a:blip r:embed="rId2"/>
          <a:stretch>
            <a:fillRect/>
          </a:stretch>
        </p:blipFill>
        <p:spPr>
          <a:xfrm>
            <a:off x="731520" y="1463040"/>
            <a:ext cx="4572000" cy="4754880"/>
          </a:xfrm>
          <a:prstGeom prst="rect">
            <a:avLst/>
          </a:prstGeom>
        </p:spPr>
      </p:pic>
      <p:sp>
        <p:nvSpPr>
          <p:cNvPr id="6" name="Rounded Rectangle 5"/>
          <p:cNvSpPr/>
          <p:nvPr/>
        </p:nvSpPr>
        <p:spPr>
          <a:xfrm>
            <a:off x="5486400" y="1463040"/>
            <a:ext cx="594360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spcAft>
                <a:spcPts val="600"/>
              </a:spcAft>
              <a:defRPr sz="1500" b="1">
                <a:solidFill>
                  <a:srgbClr val="1B4332"/>
                </a:solidFill>
              </a:defRPr>
            </a:pPr>
            <a:r>
              <a:t>⚙️  The 4-Stage Continuous Improvement Cycle</a:t>
            </a:r>
          </a:p>
          <a:p>
            <a:pPr>
              <a:defRPr sz="1200">
                <a:solidFill>
                  <a:srgbClr val="1E293B"/>
                </a:solidFill>
              </a:defRPr>
            </a:pPr>
            <a:r>
              <a:t>1. Voice of the Customer (VoC):</a:t>
            </a:r>
            <a:br/>
            <a:r>
              <a:t>   Students submit 1 to 5 star ratings &amp; complaints across 6 service categories.</a:t>
            </a:r>
            <a:br/>
            <a:br/>
            <a:r>
              <a:t>2. Pareto 80/20 Analysis:</a:t>
            </a:r>
            <a:br/>
            <a:r>
              <a:t>   Database groups complaints and calculates cumulative % to isolate the vital few defects.</a:t>
            </a:r>
            <a:br/>
            <a:br/>
            <a:r>
              <a:t>3. Ishikawa (6M Fishbone) &amp; 5-Whys:</a:t>
            </a:r>
            <a:br/>
            <a:r>
              <a:t>   Root-cause drill-down across People, Process, Tech, Materials, Environment, Policy.</a:t>
            </a:r>
            <a:br/>
            <a:br/>
            <a:r>
              <a:t>4. Stage-Gated Deming PDCA Cycles:</a:t>
            </a:r>
            <a:br/>
            <a:r>
              <a:t>   Plan ➔ Do ➔ Check ➔ Act with mandatory evidence at each step before standardizing.</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A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347472"/>
          </a:xfrm>
          <a:prstGeom prst="roundRect">
            <a:avLst/>
          </a:prstGeom>
          <a:solidFill>
            <a:srgbClr val="ECF4F0"/>
          </a:solidFill>
          <a:ln w="12700">
            <a:solidFill>
              <a:srgbClr val="1B4332"/>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1B4332"/>
                </a:solidFill>
              </a:defRPr>
            </a:pPr>
            <a:r>
              <a:t>  📌  REVIEW 2 · TESTING &amp; VERIFICATION  </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400" b="1">
                <a:solidFill>
                  <a:srgbClr val="0F172A"/>
                </a:solidFill>
              </a:defRPr>
            </a:pPr>
            <a:r>
              <a:t>Automated Test Suite &amp; Export Deliverables</a:t>
            </a:r>
          </a:p>
        </p:txBody>
      </p:sp>
      <p:sp>
        <p:nvSpPr>
          <p:cNvPr id="5" name="Rounded Rectangle 4"/>
          <p:cNvSpPr/>
          <p:nvPr/>
        </p:nvSpPr>
        <p:spPr>
          <a:xfrm>
            <a:off x="731520" y="1463040"/>
            <a:ext cx="4572000" cy="4754880"/>
          </a:xfrm>
          <a:prstGeom prst="roundRect">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4400" b="1">
                <a:solidFill>
                  <a:srgbClr val="1B4332"/>
                </a:solidFill>
              </a:defRPr>
            </a:pPr>
            <a:r>
              <a:t>🏆 64 / 64</a:t>
            </a:r>
          </a:p>
          <a:p>
            <a:pPr>
              <a:spcAft>
                <a:spcPts val="1400"/>
              </a:spcAft>
              <a:defRPr sz="1400" b="1">
                <a:solidFill>
                  <a:srgbClr val="0F172A"/>
                </a:solidFill>
              </a:defRPr>
            </a:pPr>
            <a:r>
              <a:t>AUTOMATED TESTS PASSED</a:t>
            </a:r>
          </a:p>
          <a:p>
            <a:pPr>
              <a:defRPr sz="1200">
                <a:solidFill>
                  <a:srgbClr val="1E293B"/>
                </a:solidFill>
              </a:defRPr>
            </a:pPr>
            <a:r>
              <a:t>• 15 Auth &amp; RBAC Security Tests</a:t>
            </a:r>
            <a:br/>
            <a:r>
              <a:t>• 9 Circulation &amp; Overdue Tests</a:t>
            </a:r>
            <a:br/>
            <a:r>
              <a:t>• 16 Feature &amp; CSV Import Tests</a:t>
            </a:r>
            <a:br/>
            <a:r>
              <a:t>• 13 Production Config Tests</a:t>
            </a:r>
            <a:br/>
            <a:r>
              <a:t>• 11 TQM &amp; PDCA Workflow Tests</a:t>
            </a:r>
            <a:br/>
            <a:br/>
            <a:r>
              <a:t>⚡ Executes in ~29 seconds with 100% pass rate!</a:t>
            </a:r>
          </a:p>
        </p:txBody>
      </p:sp>
      <p:sp>
        <p:nvSpPr>
          <p:cNvPr id="6" name="Rounded Rectangle 5"/>
          <p:cNvSpPr/>
          <p:nvPr/>
        </p:nvSpPr>
        <p:spPr>
          <a:xfrm>
            <a:off x="5486400" y="1463040"/>
            <a:ext cx="594360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spcAft>
                <a:spcPts val="600"/>
              </a:spcAft>
              <a:defRPr sz="1500" b="1">
                <a:solidFill>
                  <a:srgbClr val="6366F1"/>
                </a:solidFill>
              </a:defRPr>
            </a:pPr>
            <a:r>
              <a:t>📊  Institutional Multi-Format Exports</a:t>
            </a:r>
          </a:p>
          <a:p>
            <a:pPr>
              <a:defRPr sz="1200">
                <a:solidFill>
                  <a:srgbClr val="1E293B"/>
                </a:solidFill>
              </a:defRPr>
            </a:pPr>
            <a:r>
              <a:t>• CSV Exports: Universal Excel compatibility with UTF-8 BOM</a:t>
            </a:r>
            <a:br/>
            <a:r>
              <a:t>• Excel (.xlsx): Styled headers, freeze-panes, and auto-filters</a:t>
            </a:r>
            <a:br/>
            <a:r>
              <a:t>• PDF Reports: Vector landscape tables generated via ReportLab</a:t>
            </a:r>
            <a:br/>
            <a:r>
              <a:t>• Security: Formula injection defense (prefixes ' on =, +, -, @)</a:t>
            </a:r>
          </a:p>
        </p:txBody>
      </p:sp>
      <p:sp>
        <p:nvSpPr>
          <p:cNvPr id="7" name="Rounded Rectangle 6"/>
          <p:cNvSpPr/>
          <p:nvPr/>
        </p:nvSpPr>
        <p:spPr>
          <a:xfrm>
            <a:off x="5486400" y="3931920"/>
            <a:ext cx="594360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spcAft>
                <a:spcPts val="600"/>
              </a:spcAft>
              <a:defRPr sz="1500" b="1">
                <a:solidFill>
                  <a:srgbClr val="EA580C"/>
                </a:solidFill>
              </a:defRPr>
            </a:pPr>
            <a:r>
              <a:t>🛡️  Disaster Recovery &amp; Uptime Tools</a:t>
            </a:r>
          </a:p>
          <a:p>
            <a:pPr>
              <a:defRPr sz="1200">
                <a:solidFill>
                  <a:srgbClr val="1E293B"/>
                </a:solidFill>
              </a:defRPr>
            </a:pPr>
            <a:r>
              <a:t>• Online Backup CLI (backup-db): Point-in-time consistent SQLite snapshots</a:t>
            </a:r>
            <a:br/>
            <a:r>
              <a:t>• Stale Token Purge (purge-expired-records): Cleans up expired reset links</a:t>
            </a:r>
            <a:br/>
            <a:r>
              <a:t>• Automated Due Reminders (send-loan-reminders): Idempotent cron job</a:t>
            </a:r>
          </a:p>
        </p:txBody>
      </p:sp>
    </p:spTree>
  </p:cSld>
  <p:clrMapOvr>
    <a:masterClrMapping/>
  </p:clrMapOvr>
  <p:transition spd="med">
    <p:push/>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2926080" cy="347472"/>
          </a:xfrm>
          <a:prstGeom prst="roundRect">
            <a:avLst/>
          </a:prstGeom>
          <a:solidFill>
            <a:srgbClr val="1E3A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0" tIns="0" rIns="0" bIns="0"/>
          <a:lstStyle/>
          <a:p>
            <a:pPr algn="ctr">
              <a:defRPr sz="1000" b="1">
                <a:solidFill>
                  <a:srgbClr val="10B981"/>
                </a:solidFill>
              </a:defRPr>
            </a:pPr>
            <a:r>
              <a:t>  📌  EVALUATION DEFENSE  </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400" b="1">
                <a:solidFill>
                  <a:srgbClr val="FFFFFF"/>
                </a:solidFill>
              </a:defRPr>
            </a:pPr>
            <a:r>
              <a:t>Key Viva Defense Answers &amp; Future Roadmap</a:t>
            </a:r>
          </a:p>
        </p:txBody>
      </p:sp>
      <p:sp>
        <p:nvSpPr>
          <p:cNvPr id="5" name="Rounded Rectangle 4"/>
          <p:cNvSpPr/>
          <p:nvPr/>
        </p:nvSpPr>
        <p:spPr>
          <a:xfrm>
            <a:off x="731520" y="1463040"/>
            <a:ext cx="3383280" cy="32004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spcAft>
                <a:spcPts val="600"/>
              </a:spcAft>
              <a:defRPr sz="1500" b="1">
                <a:solidFill>
                  <a:srgbClr val="10B981"/>
                </a:solidFill>
              </a:defRPr>
            </a:pPr>
            <a:r>
              <a:t>🛡️  Concurrency Defense</a:t>
            </a:r>
          </a:p>
          <a:p>
            <a:pPr>
              <a:defRPr sz="1200">
                <a:solidFill>
                  <a:srgbClr val="E2E8F0"/>
                </a:solidFill>
              </a:defRPr>
            </a:pPr>
            <a:r>
              <a:t>Q: How are race conditions stopped during checkout?</a:t>
            </a:r>
            <a:br/>
            <a:br/>
            <a:r>
              <a:t>A: We lock rows with with_for_update() inside atomic transactions. If two users click at once, the second cleanly encounters 'already loaned' and rolls back safely.</a:t>
            </a:r>
          </a:p>
        </p:txBody>
      </p:sp>
      <p:sp>
        <p:nvSpPr>
          <p:cNvPr id="6" name="Rounded Rectangle 5"/>
          <p:cNvSpPr/>
          <p:nvPr/>
        </p:nvSpPr>
        <p:spPr>
          <a:xfrm>
            <a:off x="4389120" y="1463040"/>
            <a:ext cx="3383280" cy="32004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spcAft>
                <a:spcPts val="600"/>
              </a:spcAft>
              <a:defRPr sz="1500" b="1">
                <a:solidFill>
                  <a:srgbClr val="EA580C"/>
                </a:solidFill>
              </a:defRPr>
            </a:pPr>
            <a:r>
              <a:t>⚙️  TQM Reality Defense</a:t>
            </a:r>
          </a:p>
          <a:p>
            <a:pPr>
              <a:defRPr sz="1200">
                <a:solidFill>
                  <a:srgbClr val="E2E8F0"/>
                </a:solidFill>
              </a:defRPr>
            </a:pPr>
            <a:r>
              <a:t>Q: Is TQM just theory or real code?</a:t>
            </a:r>
            <a:br/>
            <a:br/>
            <a:r>
              <a:t>A: Fully real in code! VoC ratings feed live Pareto calculations in SQL, Ishikawa forms enforce 6M root causes, and Deming PDCA cycles gate improvements.</a:t>
            </a:r>
          </a:p>
        </p:txBody>
      </p:sp>
      <p:sp>
        <p:nvSpPr>
          <p:cNvPr id="7" name="Rounded Rectangle 6"/>
          <p:cNvSpPr/>
          <p:nvPr/>
        </p:nvSpPr>
        <p:spPr>
          <a:xfrm>
            <a:off x="8046720" y="1463040"/>
            <a:ext cx="3383280" cy="32004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spcAft>
                <a:spcPts val="600"/>
              </a:spcAft>
              <a:defRPr sz="1500" b="1">
                <a:solidFill>
                  <a:srgbClr val="6366F1"/>
                </a:solidFill>
              </a:defRPr>
            </a:pPr>
            <a:r>
              <a:t>🔒  Session Defense</a:t>
            </a:r>
          </a:p>
          <a:p>
            <a:pPr>
              <a:defRPr sz="1200">
                <a:solidFill>
                  <a:srgbClr val="E2E8F0"/>
                </a:solidFill>
              </a:defRPr>
            </a:pPr>
            <a:r>
              <a:t>Q: How is credential tampering prevented?</a:t>
            </a:r>
            <a:br/>
            <a:br/>
            <a:r>
              <a:t>A: Passwords use salted Werkzeug scrypt hashing. An auth_version column revokes all existing sessions instantly whenever a password is reset.</a:t>
            </a:r>
          </a:p>
        </p:txBody>
      </p:sp>
      <p:sp>
        <p:nvSpPr>
          <p:cNvPr id="8" name="Rounded Rectangle 7"/>
          <p:cNvSpPr/>
          <p:nvPr/>
        </p:nvSpPr>
        <p:spPr>
          <a:xfrm>
            <a:off x="731520" y="4937760"/>
            <a:ext cx="10698480" cy="13716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tIns="164592"/>
          <a:lstStyle/>
          <a:p>
            <a:pPr algn="ctr">
              <a:defRPr sz="1400" b="1">
                <a:solidFill>
                  <a:srgbClr val="10B981"/>
                </a:solidFill>
              </a:defRPr>
            </a:pPr>
            <a:r>
              <a:t>🚀 Future Evolution Roadmap</a:t>
            </a:r>
          </a:p>
          <a:p>
            <a:pPr>
              <a:defRPr sz="1200">
                <a:solidFill>
                  <a:srgbClr val="E2E8F0"/>
                </a:solidFill>
              </a:defRPr>
            </a:pPr>
            <a:r>
              <a:t>1. Handheld Barcode Scanner Integration  ➔  2. RFID Self-Checkout Kiosks  ➔  3. Automated SMTP Email Notifications</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