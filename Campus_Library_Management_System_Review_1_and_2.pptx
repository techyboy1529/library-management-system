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respected evaluators. Today I am presenting our comprehensive academic project: The Campus Library Management System with Total Quality Management (TQM). This presentation covers both Review 1 (Setup, SRS, System Scope, and Relational Architecture) and Review 2 (Implemented Working Software, CRUD Operations, Core TQM Modules, and Quality Verifications).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presentation roadmap. We structured this deck to systematically cover every rubric requirement from Review 1 (Setup &amp; SRS) through Review 2 (CRUD, Database Integration, TQM implementation, and live testing).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Review 1, our research identified three core problems: First, physical inventory blindspots where legacy systems only count aggregate titles rather than uniquely barcoded copies. Second, circulation bottlenecks like peak-hour checkout latency and unfair hold management. Third, the complete absence of a continuous quality feedback loop.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quality objectives are directly grounded in Deming and Juran's Total Quality Management principles. Instead of treating quality as an afterthought, our application embeds concrete KPIs into the database—including copy-level accuracy, sub-second checkout operations, 80/20 Pareto prioritization, and stage-gated PDCA cycles.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SRS is divided into Functional and Non-Functional Requirements. Functionally, the system provides end-to-end circulation, cataloging, reservations, TQM tooling, and multi-format exports. Non-functionally, we enforced strict ACID transactional integrity, CSRF protection, indexing for sub-second retrieval, and WCAG accessibility.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enforces strict Role-Based Access Control with three segregated roles: Students, Quality Managers, and Administrators. Students access self-service borrowing and VoC feedback; Quality Managers have dedicated tools for Pareto analysis, root-cause sessions, and PDCA cycles; and Librarians manage circulation and copy inventory.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codebase adheres to the Flask Application Factory and Blueprint design pattern. We strictly separate HTTP routing from our transaction service layer. The technology stack leverages industry standards: Flask 3.1, SQLAlchemy 2.1 ORM, Alembic migrations, OpenPyXL, and ReportLab for professional export generation.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relational database schema consists of 14 normalized tables. We use physical copy abstraction where each book copy has its own barcode and status. ACID integrity is reinforced with partial unique indexes, foreign key cascades, and check constraints to guarantee valid ratings (1-5), positive fines, and allowed statuses.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Transitioning to Review 2: We have achieved a fully functioning, production-ready system. There are no mockups or static pages. Every workflow is connected to the database, validated with 64 automated tests, and verified under live test conditions with real-time health monitoring.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Review 2, CRUD operations are fully implemented across all 4 functional pillars: Catalog &amp; Copy Inventory, Circulation &amp; Loans, TQM Service Registers, and Administrative Settings. All state changes enforce referential integrity and preserve historic audit logs.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core circulation workflow. When a book is issued, we lock the rows with with_for_update to eliminate race conditions. Upon return, the system calculates late fines using exact Decimal arithmetic, and automatically checks if any student is on the waitlist. If so, it flags the copy as reserved and immediately notifies the student for pickup.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pillar of our TQM suite is Voice of the Customer and Pareto Analysis. Students submit feedback and complaints categorized by operational area. The backend dynamically generates a Pareto 80/20 analysis, isolating the top issues responsible for the majority of complaints so leadership focuses resources on what matters most.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issue is identified, Quality Managers use our digital Ishikawa (Fishbone) diagram and 5-Whys tool. Rather than blaming individuals, it forces teams to evaluate People, Processes, Technology, Materials, Environment, and Policy. Once the true root cause is discovered, it links directly to a corrective Kaizen action.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third quality pillar implements stage-gated Deming PDCA cycles. Staff cannot mark a cycle complete without recording evidence in each stage. These cycles work alongside our real-time KPI engine, tracking satisfaction, checkout processing latency, complaint resolution velocity, and physical inventory accuracy.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reporting and enterprise security, we provide CSV, Excel, and ReportLab PDF exports with built-in protections against spreadsheet formula injection. On the security front, we enforce CSRF tokens, rate limiting, and an auth_version mechanism that revokes active sessions immediately if a password is reset.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verified our implementation with a comprehensive Pytest test suite of 64 automated tests, achieving a 100% pass rate. We also verified live operational utilities including the /healthz probe, online consistent backups, and automated cleanup routines for expired temporary records.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prepares us for the viva examination. It highlights our technical defense on database concurrency, the practical manifestation of TQM methodologies, session security architecture, and database scalability.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our project fulfills every requirement of Review 1 and Review 2. We have delivered a complete, tested, and secure web application that elevates academic library operations with Total Quality Management. Thank you, and we welcome any questions from the evaluators.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37160" cy="3840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280160"/>
            <a:ext cx="10241280" cy="4114800"/>
          </a:xfrm>
          <a:prstGeom prst="rect">
            <a:avLst/>
          </a:prstGeom>
          <a:noFill/>
        </p:spPr>
        <p:txBody>
          <a:bodyPr wrap="square">
            <a:spAutoFit/>
          </a:bodyPr>
          <a:lstStyle/>
          <a:p>
            <a:pPr>
              <a:spcAft>
                <a:spcPts val="1600"/>
              </a:spcAft>
              <a:defRPr sz="1300" b="1">
                <a:solidFill>
                  <a:srgbClr val="10B981"/>
                </a:solidFill>
              </a:defRPr>
            </a:pPr>
            <a:r>
              <a:t>ACADEMIC PROJECT EVALUATION  |  REVIEW 1 &amp; REVIEW 2</a:t>
            </a:r>
          </a:p>
          <a:p>
            <a:pPr>
              <a:spcAft>
                <a:spcPts val="600"/>
              </a:spcAft>
              <a:defRPr sz="3800" b="1">
                <a:solidFill>
                  <a:srgbClr val="FFFFFF"/>
                </a:solidFill>
              </a:defRPr>
            </a:pPr>
            <a:r>
              <a:t>Campus Library Management System</a:t>
            </a:r>
          </a:p>
          <a:p>
            <a:pPr>
              <a:spcAft>
                <a:spcPts val="2800"/>
              </a:spcAft>
              <a:defRPr sz="1800">
                <a:solidFill>
                  <a:srgbClr val="CBD5E1"/>
                </a:solidFill>
              </a:defRPr>
            </a:pPr>
            <a:r>
              <a:t>Integrated Copy-Level Inventory, Circulation &amp; Total Quality Management (TQM) Platform</a:t>
            </a:r>
          </a:p>
          <a:p>
            <a:pPr>
              <a:spcAft>
                <a:spcPts val="1600"/>
              </a:spcAft>
              <a:defRPr sz="1300">
                <a:solidFill>
                  <a:srgbClr val="94A3B8"/>
                </a:solidFill>
              </a:defRPr>
            </a:pPr>
            <a:r>
              <a:t>Review 1: Project Setup, SRS, Architecture &amp; Database Design</a:t>
            </a:r>
            <a:br/>
            <a:r>
              <a:t>Review 2: Working Application, CRUD Operations, TQM Modules &amp; Test Verification</a:t>
            </a:r>
          </a:p>
          <a:p>
            <a:pPr>
              <a:defRPr sz="1200" b="1">
                <a:solidFill>
                  <a:srgbClr val="D97706"/>
                </a:solidFill>
              </a:defRPr>
            </a:pPr>
            <a:r>
              <a:t>Tech Stack: Python 3.10+ | Flask 3.1 | SQLAlchemy | PostgreSQL / SQLite | Bootstrap 5 | Chart.js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1B4332"/>
                </a:solidFill>
              </a:defRPr>
            </a:pPr>
            <a:r>
              <a:t>PRESENTATION STRUCTURE</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Executive Agenda: Review 1 &amp; Review 2 Roadmap</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0F172A"/>
                </a:solidFill>
              </a:defRPr>
            </a:pPr>
            <a:r>
              <a:t>Part 1: Review 1 — Setup &amp; SRS</a:t>
            </a:r>
          </a:p>
          <a:p>
            <a:pPr>
              <a:spcAft>
                <a:spcPts val="800"/>
              </a:spcAft>
              <a:defRPr sz="1100" i="1">
                <a:solidFill>
                  <a:srgbClr val="64748B"/>
                </a:solidFill>
              </a:defRPr>
            </a:pPr>
            <a:r>
              <a:t>Foundations, Planning &amp; Formal Engineering Specifications</a:t>
            </a:r>
          </a:p>
          <a:p>
            <a:pPr>
              <a:spcAft>
                <a:spcPts val="600"/>
              </a:spcAft>
              <a:defRPr sz="1200">
                <a:solidFill>
                  <a:srgbClr val="1E293B"/>
                </a:solidFill>
              </a:defRPr>
            </a:pPr>
            <a:r>
              <a:t>•  Problem Statement: Real-world academic library bottlenecks</a:t>
            </a:r>
          </a:p>
          <a:p>
            <a:pPr>
              <a:spcAft>
                <a:spcPts val="600"/>
              </a:spcAft>
              <a:defRPr sz="1200">
                <a:solidFill>
                  <a:srgbClr val="1E293B"/>
                </a:solidFill>
              </a:defRPr>
            </a:pPr>
            <a:r>
              <a:t>•  Quality Objectives: Alignment with operational targets</a:t>
            </a:r>
          </a:p>
          <a:p>
            <a:pPr>
              <a:spcAft>
                <a:spcPts val="600"/>
              </a:spcAft>
              <a:defRPr sz="1200">
                <a:solidFill>
                  <a:srgbClr val="1E293B"/>
                </a:solidFill>
              </a:defRPr>
            </a:pPr>
            <a:r>
              <a:t>•  Software Requirements Specification (SRS): Functional &amp; Non-Functional</a:t>
            </a:r>
          </a:p>
          <a:p>
            <a:pPr>
              <a:spcAft>
                <a:spcPts val="600"/>
              </a:spcAft>
              <a:defRPr sz="1200">
                <a:solidFill>
                  <a:srgbClr val="1E293B"/>
                </a:solidFill>
              </a:defRPr>
            </a:pPr>
            <a:r>
              <a:t>•  Scope &amp; User Roles: Member, Quality Manager, and Administrator</a:t>
            </a:r>
          </a:p>
          <a:p>
            <a:pPr>
              <a:spcAft>
                <a:spcPts val="600"/>
              </a:spcAft>
              <a:defRPr sz="1200">
                <a:solidFill>
                  <a:srgbClr val="1E293B"/>
                </a:solidFill>
              </a:defRPr>
            </a:pPr>
            <a:r>
              <a:t>•  System Architecture: Modular blueprint &amp; service layer</a:t>
            </a:r>
          </a:p>
          <a:p>
            <a:pPr>
              <a:spcAft>
                <a:spcPts val="600"/>
              </a:spcAft>
              <a:defRPr sz="1200">
                <a:solidFill>
                  <a:srgbClr val="1E293B"/>
                </a:solidFill>
              </a:defRPr>
            </a:pPr>
            <a:r>
              <a:t>•  Database Design: 14 Relational entities, ACID integrity, and constraints</a:t>
            </a:r>
          </a:p>
        </p:txBody>
      </p:sp>
      <p:sp>
        <p:nvSpPr>
          <p:cNvPr id="6" name="Rounded Rectangle 5"/>
          <p:cNvSpPr/>
          <p:nvPr/>
        </p:nvSpPr>
        <p:spPr>
          <a:xfrm>
            <a:off x="62179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1B4332"/>
                </a:solidFill>
              </a:defRPr>
            </a:pPr>
            <a:r>
              <a:t>Part 2: Review 2 — CRUD &amp; Core Features</a:t>
            </a:r>
          </a:p>
          <a:p>
            <a:pPr>
              <a:spcAft>
                <a:spcPts val="800"/>
              </a:spcAft>
              <a:defRPr sz="1100" i="1">
                <a:solidFill>
                  <a:srgbClr val="64748B"/>
                </a:solidFill>
              </a:defRPr>
            </a:pPr>
            <a:r>
              <a:t>Working Implementation, Live Workflows &amp; Quality Verification</a:t>
            </a:r>
          </a:p>
          <a:p>
            <a:pPr>
              <a:spcAft>
                <a:spcPts val="600"/>
              </a:spcAft>
              <a:defRPr sz="1200">
                <a:solidFill>
                  <a:srgbClr val="1E293B"/>
                </a:solidFill>
              </a:defRPr>
            </a:pPr>
            <a:r>
              <a:t>•  Working Application: Live Flask instance &amp; health probe (/healthz)</a:t>
            </a:r>
          </a:p>
          <a:p>
            <a:pPr>
              <a:spcAft>
                <a:spcPts val="600"/>
              </a:spcAft>
              <a:defRPr sz="1200">
                <a:solidFill>
                  <a:srgbClr val="1E293B"/>
                </a:solidFill>
              </a:defRPr>
            </a:pPr>
            <a:r>
              <a:t>•  Comprehensive CRUD Engine: Books, barcoded copies, loans, &amp; metadata</a:t>
            </a:r>
          </a:p>
          <a:p>
            <a:pPr>
              <a:spcAft>
                <a:spcPts val="600"/>
              </a:spcAft>
              <a:defRPr sz="1200">
                <a:solidFill>
                  <a:srgbClr val="1E293B"/>
                </a:solidFill>
              </a:defRPr>
            </a:pPr>
            <a:r>
              <a:t>•  Core Circulation Workflows: Atomic issue, return, holds, and fines</a:t>
            </a:r>
          </a:p>
          <a:p>
            <a:pPr>
              <a:spcAft>
                <a:spcPts val="600"/>
              </a:spcAft>
              <a:defRPr sz="1200">
                <a:solidFill>
                  <a:srgbClr val="1E293B"/>
                </a:solidFill>
              </a:defRPr>
            </a:pPr>
            <a:r>
              <a:t>•  TQM Framework: Voice of Customer, 80/20 Pareto, Ishikawa 6M &amp; 5-Whys</a:t>
            </a:r>
          </a:p>
          <a:p>
            <a:pPr>
              <a:spcAft>
                <a:spcPts val="600"/>
              </a:spcAft>
              <a:defRPr sz="1200">
                <a:solidFill>
                  <a:srgbClr val="1E293B"/>
                </a:solidFill>
              </a:defRPr>
            </a:pPr>
            <a:r>
              <a:t>•  Kaizen &amp; PDCA: Improvement action registry and Deming cycles</a:t>
            </a:r>
          </a:p>
          <a:p>
            <a:pPr>
              <a:spcAft>
                <a:spcPts val="600"/>
              </a:spcAft>
              <a:defRPr sz="1200">
                <a:solidFill>
                  <a:srgbClr val="1E293B"/>
                </a:solidFill>
              </a:defRPr>
            </a:pPr>
            <a:r>
              <a:t>•  Verification &amp; Delivery: 64/64 Automated tests, multi-format reports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1B4332"/>
                </a:solidFill>
              </a:defRPr>
            </a:pPr>
            <a:r>
              <a:t>REVIEW 1 · PROBLEM DEFINITION</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Problem Statement &amp; Operational Challenges</a:t>
            </a:r>
          </a:p>
        </p:txBody>
      </p:sp>
      <p:sp>
        <p:nvSpPr>
          <p:cNvPr id="5" name="Rounded Rectangle 4"/>
          <p:cNvSpPr/>
          <p:nvPr/>
        </p:nvSpPr>
        <p:spPr>
          <a:xfrm>
            <a:off x="731520" y="164592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B91C1C"/>
                </a:solidFill>
              </a:defRPr>
            </a:pPr>
            <a:r>
              <a:t>1. Inventory Blindspots</a:t>
            </a:r>
          </a:p>
          <a:p>
            <a:pPr>
              <a:spcAft>
                <a:spcPts val="800"/>
              </a:spcAft>
              <a:defRPr sz="1100" i="1">
                <a:solidFill>
                  <a:srgbClr val="64748B"/>
                </a:solidFill>
              </a:defRPr>
            </a:pPr>
            <a:r>
              <a:t>Legacy Recordkeeping Gaps</a:t>
            </a:r>
          </a:p>
          <a:p>
            <a:pPr>
              <a:spcAft>
                <a:spcPts val="600"/>
              </a:spcAft>
              <a:defRPr sz="1200">
                <a:solidFill>
                  <a:srgbClr val="1E293B"/>
                </a:solidFill>
              </a:defRPr>
            </a:pPr>
            <a:r>
              <a:t>•  Manual registers track titles as aggregates, not individual physical copies.</a:t>
            </a:r>
          </a:p>
          <a:p>
            <a:pPr>
              <a:spcAft>
                <a:spcPts val="600"/>
              </a:spcAft>
              <a:defRPr sz="1200">
                <a:solidFill>
                  <a:srgbClr val="1E293B"/>
                </a:solidFill>
              </a:defRPr>
            </a:pPr>
            <a:r>
              <a:t>•  Lack of unique barcode tracking leads to unexplained inventory loss.</a:t>
            </a:r>
          </a:p>
          <a:p>
            <a:pPr>
              <a:spcAft>
                <a:spcPts val="600"/>
              </a:spcAft>
              <a:defRPr sz="1200">
                <a:solidFill>
                  <a:srgbClr val="1E293B"/>
                </a:solidFill>
              </a:defRPr>
            </a:pPr>
            <a:r>
              <a:t>•  No visibility into whether a book is on-shelf, borrowed, or held in reserve.</a:t>
            </a:r>
          </a:p>
          <a:p>
            <a:pPr>
              <a:spcAft>
                <a:spcPts val="600"/>
              </a:spcAft>
              <a:defRPr sz="1200">
                <a:solidFill>
                  <a:srgbClr val="1E293B"/>
                </a:solidFill>
              </a:defRPr>
            </a:pPr>
            <a:r>
              <a:t>•  Audits require manual, error-prone shelf scanning.</a:t>
            </a:r>
          </a:p>
        </p:txBody>
      </p:sp>
      <p:sp>
        <p:nvSpPr>
          <p:cNvPr id="6" name="Rounded Rectangle 5"/>
          <p:cNvSpPr/>
          <p:nvPr/>
        </p:nvSpPr>
        <p:spPr>
          <a:xfrm>
            <a:off x="4389120" y="164592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D97706"/>
                </a:solidFill>
              </a:defRPr>
            </a:pPr>
            <a:r>
              <a:t>2. Service Bottlenecks</a:t>
            </a:r>
          </a:p>
          <a:p>
            <a:pPr>
              <a:spcAft>
                <a:spcPts val="800"/>
              </a:spcAft>
              <a:defRPr sz="1100" i="1">
                <a:solidFill>
                  <a:srgbClr val="64748B"/>
                </a:solidFill>
              </a:defRPr>
            </a:pPr>
            <a:r>
              <a:t>Circulation Friction</a:t>
            </a:r>
          </a:p>
          <a:p>
            <a:pPr>
              <a:spcAft>
                <a:spcPts val="600"/>
              </a:spcAft>
              <a:defRPr sz="1200">
                <a:solidFill>
                  <a:srgbClr val="1E293B"/>
                </a:solidFill>
              </a:defRPr>
            </a:pPr>
            <a:r>
              <a:t>•  Peak-hour checkout queues lead to extended student wait times.</a:t>
            </a:r>
          </a:p>
          <a:p>
            <a:pPr>
              <a:spcAft>
                <a:spcPts val="600"/>
              </a:spcAft>
              <a:defRPr sz="1200">
                <a:solidFill>
                  <a:srgbClr val="1E293B"/>
                </a:solidFill>
              </a:defRPr>
            </a:pPr>
            <a:r>
              <a:t>•  Late returns go unpenalized or suffer inconsistent manual fine calculations.</a:t>
            </a:r>
          </a:p>
          <a:p>
            <a:pPr>
              <a:spcAft>
                <a:spcPts val="600"/>
              </a:spcAft>
              <a:defRPr sz="1200">
                <a:solidFill>
                  <a:srgbClr val="1E293B"/>
                </a:solidFill>
              </a:defRPr>
            </a:pPr>
            <a:r>
              <a:t>•  No automated reservations: students repeatedly visit the desk for unavailable books.</a:t>
            </a:r>
          </a:p>
          <a:p>
            <a:pPr>
              <a:spcAft>
                <a:spcPts val="600"/>
              </a:spcAft>
              <a:defRPr sz="1200">
                <a:solidFill>
                  <a:srgbClr val="1E293B"/>
                </a:solidFill>
              </a:defRPr>
            </a:pPr>
            <a:r>
              <a:t>•  Duplicate issues and lost history records occur frequently.</a:t>
            </a:r>
          </a:p>
        </p:txBody>
      </p:sp>
      <p:sp>
        <p:nvSpPr>
          <p:cNvPr id="7" name="Rounded Rectangle 6"/>
          <p:cNvSpPr/>
          <p:nvPr/>
        </p:nvSpPr>
        <p:spPr>
          <a:xfrm>
            <a:off x="8046720" y="164592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1B4332"/>
                </a:solidFill>
              </a:defRPr>
            </a:pPr>
            <a:r>
              <a:t>3. Missing Quality Loop</a:t>
            </a:r>
          </a:p>
          <a:p>
            <a:pPr>
              <a:spcAft>
                <a:spcPts val="800"/>
              </a:spcAft>
              <a:defRPr sz="1100" i="1">
                <a:solidFill>
                  <a:srgbClr val="64748B"/>
                </a:solidFill>
              </a:defRPr>
            </a:pPr>
            <a:r>
              <a:t>Absence of TQM Integration</a:t>
            </a:r>
          </a:p>
          <a:p>
            <a:pPr>
              <a:spcAft>
                <a:spcPts val="600"/>
              </a:spcAft>
              <a:defRPr sz="1200">
                <a:solidFill>
                  <a:srgbClr val="1E293B"/>
                </a:solidFill>
              </a:defRPr>
            </a:pPr>
            <a:r>
              <a:t>•  Student feedback is unstructured and rarely analyzed quantitatively.</a:t>
            </a:r>
          </a:p>
          <a:p>
            <a:pPr>
              <a:spcAft>
                <a:spcPts val="600"/>
              </a:spcAft>
              <a:defRPr sz="1200">
                <a:solidFill>
                  <a:srgbClr val="1E293B"/>
                </a:solidFill>
              </a:defRPr>
            </a:pPr>
            <a:r>
              <a:t>•  Complaints are addressed informally with zero root-cause investigation.</a:t>
            </a:r>
          </a:p>
          <a:p>
            <a:pPr>
              <a:spcAft>
                <a:spcPts val="600"/>
              </a:spcAft>
              <a:defRPr sz="1200">
                <a:solidFill>
                  <a:srgbClr val="1E293B"/>
                </a:solidFill>
              </a:defRPr>
            </a:pPr>
            <a:r>
              <a:t>•  No closed-loop corrective action system to prevent defect recurrence.</a:t>
            </a:r>
          </a:p>
          <a:p>
            <a:pPr>
              <a:spcAft>
                <a:spcPts val="600"/>
              </a:spcAft>
              <a:defRPr sz="1200">
                <a:solidFill>
                  <a:srgbClr val="1E293B"/>
                </a:solidFill>
              </a:defRPr>
            </a:pPr>
            <a:r>
              <a:t>•  Decisions rely on intuition rather than empirical service KPIs.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1B4332"/>
                </a:solidFill>
              </a:defRPr>
            </a:pPr>
            <a:r>
              <a:t>REVIEW 1 · QUALITY FOUNDATIONS</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Project Quality Objectives &amp; TQM Principles</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1B4332"/>
                </a:solidFill>
              </a:defRPr>
            </a:pPr>
            <a:r>
              <a:t>Measurable Quality Targets (KPIs)</a:t>
            </a:r>
          </a:p>
          <a:p>
            <a:pPr>
              <a:spcAft>
                <a:spcPts val="800"/>
              </a:spcAft>
              <a:defRPr sz="1100" i="1">
                <a:solidFill>
                  <a:srgbClr val="64748B"/>
                </a:solidFill>
              </a:defRPr>
            </a:pPr>
            <a:r>
              <a:t>Data-Backed Empirical Goals</a:t>
            </a:r>
          </a:p>
          <a:p>
            <a:pPr>
              <a:spcAft>
                <a:spcPts val="600"/>
              </a:spcAft>
              <a:defRPr sz="1200">
                <a:solidFill>
                  <a:srgbClr val="1E293B"/>
                </a:solidFill>
              </a:defRPr>
            </a:pPr>
            <a:r>
              <a:t>•  Zero Inventory Discrepancy: Track 100% of physical copies via unique barcodes (LIB-XXXXX-XXX).</a:t>
            </a:r>
          </a:p>
          <a:p>
            <a:pPr>
              <a:spcAft>
                <a:spcPts val="600"/>
              </a:spcAft>
              <a:defRPr sz="1200">
                <a:solidFill>
                  <a:srgbClr val="1E293B"/>
                </a:solidFill>
              </a:defRPr>
            </a:pPr>
            <a:r>
              <a:t>•  Sub-Second Circulation Latency: Complete checkouts in &lt;500ms server processing time.</a:t>
            </a:r>
          </a:p>
          <a:p>
            <a:pPr>
              <a:spcAft>
                <a:spcPts val="600"/>
              </a:spcAft>
              <a:defRPr sz="1200">
                <a:solidFill>
                  <a:srgbClr val="1E293B"/>
                </a:solidFill>
              </a:defRPr>
            </a:pPr>
            <a:r>
              <a:t>•  High Member Satisfaction: Sustain customer rating mean ≥ 4.0 / 5.0 across trailing 90 days.</a:t>
            </a:r>
          </a:p>
          <a:p>
            <a:pPr>
              <a:spcAft>
                <a:spcPts val="600"/>
              </a:spcAft>
              <a:defRPr sz="1200">
                <a:solidFill>
                  <a:srgbClr val="1E293B"/>
                </a:solidFill>
              </a:defRPr>
            </a:pPr>
            <a:r>
              <a:t>•  Point-in-Time Overdue Rate Control: Maintain overdue active loans &lt; 15% via proactive notifications.</a:t>
            </a:r>
          </a:p>
          <a:p>
            <a:pPr>
              <a:spcAft>
                <a:spcPts val="600"/>
              </a:spcAft>
              <a:defRPr sz="1200">
                <a:solidFill>
                  <a:srgbClr val="1E293B"/>
                </a:solidFill>
              </a:defRPr>
            </a:pPr>
            <a:r>
              <a:t>•  Closed-Loop Complaint Resolution: Achieve ≥ 90% resolution rate with mandatory root-cause tracking.</a:t>
            </a:r>
          </a:p>
          <a:p>
            <a:pPr>
              <a:spcAft>
                <a:spcPts val="600"/>
              </a:spcAft>
              <a:defRPr sz="1200">
                <a:solidFill>
                  <a:srgbClr val="1E293B"/>
                </a:solidFill>
              </a:defRPr>
            </a:pPr>
            <a:r>
              <a:t>•  On-Time Improvement Actions: Deliver ≥ 85% of Kaizen actions on or before the assigned deadline.</a:t>
            </a:r>
          </a:p>
        </p:txBody>
      </p:sp>
      <p:sp>
        <p:nvSpPr>
          <p:cNvPr id="6" name="Rounded Rectangle 5"/>
          <p:cNvSpPr/>
          <p:nvPr/>
        </p:nvSpPr>
        <p:spPr>
          <a:xfrm>
            <a:off x="62179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0F172A"/>
                </a:solidFill>
              </a:defRPr>
            </a:pPr>
            <a:r>
              <a:t>TQM Theoretical Alignment</a:t>
            </a:r>
          </a:p>
          <a:p>
            <a:pPr>
              <a:spcAft>
                <a:spcPts val="800"/>
              </a:spcAft>
              <a:defRPr sz="1100" i="1">
                <a:solidFill>
                  <a:srgbClr val="64748B"/>
                </a:solidFill>
              </a:defRPr>
            </a:pPr>
            <a:r>
              <a:t>Deming &amp; Juran Methodologies</a:t>
            </a:r>
          </a:p>
          <a:p>
            <a:pPr>
              <a:spcAft>
                <a:spcPts val="600"/>
              </a:spcAft>
              <a:defRPr sz="1200">
                <a:solidFill>
                  <a:srgbClr val="1E293B"/>
                </a:solidFill>
              </a:defRPr>
            </a:pPr>
            <a:r>
              <a:t>•  Voice of the Customer (VoC): Multi-category student feedback and complaint handling.</a:t>
            </a:r>
          </a:p>
          <a:p>
            <a:pPr>
              <a:spcAft>
                <a:spcPts val="600"/>
              </a:spcAft>
              <a:defRPr sz="1200">
                <a:solidFill>
                  <a:srgbClr val="1E293B"/>
                </a:solidFill>
              </a:defRPr>
            </a:pPr>
            <a:r>
              <a:t>•  Pareto Analysis (80/20 Rule): Focus resources on the vital few root categories causing 80% of library complaints.</a:t>
            </a:r>
          </a:p>
          <a:p>
            <a:pPr>
              <a:spcAft>
                <a:spcPts val="600"/>
              </a:spcAft>
              <a:defRPr sz="1200">
                <a:solidFill>
                  <a:srgbClr val="1E293B"/>
                </a:solidFill>
              </a:defRPr>
            </a:pPr>
            <a:r>
              <a:t>•  Ishikawa Diagram (6M/Fishbone): Root-cause breakdown across People, Process, Technology, Materials, Environment, Policy.</a:t>
            </a:r>
          </a:p>
          <a:p>
            <a:pPr>
              <a:spcAft>
                <a:spcPts val="600"/>
              </a:spcAft>
              <a:defRPr sz="1200">
                <a:solidFill>
                  <a:srgbClr val="1E293B"/>
                </a:solidFill>
              </a:defRPr>
            </a:pPr>
            <a:r>
              <a:t>•  5-Whys Methodology: Drill down from visible symptoms to actionable systemic causes.</a:t>
            </a:r>
          </a:p>
          <a:p>
            <a:pPr>
              <a:spcAft>
                <a:spcPts val="600"/>
              </a:spcAft>
              <a:defRPr sz="1200">
                <a:solidFill>
                  <a:srgbClr val="1E293B"/>
                </a:solidFill>
              </a:defRPr>
            </a:pPr>
            <a:r>
              <a:t>•  Deming PDCA Cycle: Four-stage gated improvement cycles (Plan → Do → Check → Act).</a:t>
            </a:r>
          </a:p>
          <a:p>
            <a:pPr>
              <a:spcAft>
                <a:spcPts val="600"/>
              </a:spcAft>
              <a:defRPr sz="1200">
                <a:solidFill>
                  <a:srgbClr val="1E293B"/>
                </a:solidFill>
              </a:defRPr>
            </a:pPr>
            <a:r>
              <a:t>•  Evidence-Based Quality: Descriptive statistical tracking without synthetic or falsified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1B4332"/>
                </a:solidFill>
              </a:defRPr>
            </a:pPr>
            <a:r>
              <a:t>REVIEW 1 · SYSTEM SPECIFICATIONS</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Software Requirements Specification (SRS)</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0F172A"/>
                </a:solidFill>
              </a:defRPr>
            </a:pPr>
            <a:r>
              <a:t>Functional Requirements (FR)</a:t>
            </a:r>
          </a:p>
          <a:p>
            <a:pPr>
              <a:spcAft>
                <a:spcPts val="800"/>
              </a:spcAft>
              <a:defRPr sz="1100" i="1">
                <a:solidFill>
                  <a:srgbClr val="64748B"/>
                </a:solidFill>
              </a:defRPr>
            </a:pPr>
            <a:r>
              <a:t>System Features &amp; Operational Capabilities</a:t>
            </a:r>
          </a:p>
          <a:p>
            <a:pPr>
              <a:spcAft>
                <a:spcPts val="600"/>
              </a:spcAft>
              <a:defRPr sz="1200">
                <a:solidFill>
                  <a:srgbClr val="1E293B"/>
                </a:solidFill>
              </a:defRPr>
            </a:pPr>
            <a:r>
              <a:t>•  FR-01 (Authentication): Role-segregated login (Student vs Management) with Werkzeug password hashing.</a:t>
            </a:r>
          </a:p>
          <a:p>
            <a:pPr>
              <a:spcAft>
                <a:spcPts val="600"/>
              </a:spcAft>
              <a:defRPr sz="1200">
                <a:solidFill>
                  <a:srgbClr val="1E293B"/>
                </a:solidFill>
              </a:defRPr>
            </a:pPr>
            <a:r>
              <a:t>•  FR-02 (Catalog Management): Full cataloging with ISBN-10/13 checksum verification and course/semester tagging.</a:t>
            </a:r>
          </a:p>
          <a:p>
            <a:pPr>
              <a:spcAft>
                <a:spcPts val="600"/>
              </a:spcAft>
              <a:defRPr sz="1200">
                <a:solidFill>
                  <a:srgbClr val="1E293B"/>
                </a:solidFill>
              </a:defRPr>
            </a:pPr>
            <a:r>
              <a:t>•  FR-03 (Circulation Engine): Transactional checkout, return, and automatic date-based fine calculation.</a:t>
            </a:r>
          </a:p>
          <a:p>
            <a:pPr>
              <a:spcAft>
                <a:spcPts val="600"/>
              </a:spcAft>
              <a:defRPr sz="1200">
                <a:solidFill>
                  <a:srgbClr val="1E293B"/>
                </a:solidFill>
              </a:defRPr>
            </a:pPr>
            <a:r>
              <a:t>•  FR-04 (Reservation Queue): FIFO waitlist that automatically claims returning copies for pending members.</a:t>
            </a:r>
          </a:p>
          <a:p>
            <a:pPr>
              <a:spcAft>
                <a:spcPts val="600"/>
              </a:spcAft>
              <a:defRPr sz="1200">
                <a:solidFill>
                  <a:srgbClr val="1E293B"/>
                </a:solidFill>
              </a:defRPr>
            </a:pPr>
            <a:r>
              <a:t>•  FR-05 (VoC &amp; Complaints): 1-5 Star feedback collection and end-to-end complaint status tracking.</a:t>
            </a:r>
          </a:p>
          <a:p>
            <a:pPr>
              <a:spcAft>
                <a:spcPts val="600"/>
              </a:spcAft>
              <a:defRPr sz="1200">
                <a:solidFill>
                  <a:srgbClr val="1E293B"/>
                </a:solidFill>
              </a:defRPr>
            </a:pPr>
            <a:r>
              <a:t>•  FR-06 (TQM Toolkit): Interactive Ishikawa (Fishbone) forms, 5-Whys chaining, and PDCA phase gating.</a:t>
            </a:r>
          </a:p>
          <a:p>
            <a:pPr>
              <a:spcAft>
                <a:spcPts val="600"/>
              </a:spcAft>
              <a:defRPr sz="1200">
                <a:solidFill>
                  <a:srgbClr val="1E293B"/>
                </a:solidFill>
              </a:defRPr>
            </a:pPr>
            <a:r>
              <a:t>•  FR-07 (Reporting &amp; Exports): On-demand CSV, Excel (.xlsx), and printable PDF exports with date filtering.</a:t>
            </a:r>
          </a:p>
        </p:txBody>
      </p:sp>
      <p:sp>
        <p:nvSpPr>
          <p:cNvPr id="6" name="Rounded Rectangle 5"/>
          <p:cNvSpPr/>
          <p:nvPr/>
        </p:nvSpPr>
        <p:spPr>
          <a:xfrm>
            <a:off x="62179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1B4332"/>
                </a:solidFill>
              </a:defRPr>
            </a:pPr>
            <a:r>
              <a:t>Non-Functional Requirements (NFR)</a:t>
            </a:r>
          </a:p>
          <a:p>
            <a:pPr>
              <a:spcAft>
                <a:spcPts val="800"/>
              </a:spcAft>
              <a:defRPr sz="1100" i="1">
                <a:solidFill>
                  <a:srgbClr val="64748B"/>
                </a:solidFill>
              </a:defRPr>
            </a:pPr>
            <a:r>
              <a:t>Quality Attributes &amp; Architectural Constraints</a:t>
            </a:r>
          </a:p>
          <a:p>
            <a:pPr>
              <a:spcAft>
                <a:spcPts val="600"/>
              </a:spcAft>
              <a:defRPr sz="1200">
                <a:solidFill>
                  <a:srgbClr val="1E293B"/>
                </a:solidFill>
              </a:defRPr>
            </a:pPr>
            <a:r>
              <a:t>•  NFR-01 (ACID Concurrency): Row-level serialization (with_for_update) prevents double-checkouts and duplicate loans.</a:t>
            </a:r>
          </a:p>
          <a:p>
            <a:pPr>
              <a:spcAft>
                <a:spcPts val="600"/>
              </a:spcAft>
              <a:defRPr sz="1200">
                <a:solidFill>
                  <a:srgbClr val="1E293B"/>
                </a:solidFill>
              </a:defRPr>
            </a:pPr>
            <a:r>
              <a:t>•  NFR-02 (Security &amp; Hardening): CSRF protection on all forms, Session Hijacking prevention, and secure cookie policies.</a:t>
            </a:r>
          </a:p>
          <a:p>
            <a:pPr>
              <a:spcAft>
                <a:spcPts val="600"/>
              </a:spcAft>
              <a:defRPr sz="1200">
                <a:solidFill>
                  <a:srgbClr val="1E293B"/>
                </a:solidFill>
              </a:defRPr>
            </a:pPr>
            <a:r>
              <a:t>•  NFR-03 (Performance): Database queries optimized with compound indices (ix_loan_status_due_date, ix_book_category_title).</a:t>
            </a:r>
          </a:p>
          <a:p>
            <a:pPr>
              <a:spcAft>
                <a:spcPts val="600"/>
              </a:spcAft>
              <a:defRPr sz="1200">
                <a:solidFill>
                  <a:srgbClr val="1E293B"/>
                </a:solidFill>
              </a:defRPr>
            </a:pPr>
            <a:r>
              <a:t>•  NFR-04 (Scalability): Batch CSV catalog imports supporting up to 10,000 physical copies with pre-commit validation.</a:t>
            </a:r>
          </a:p>
          <a:p>
            <a:pPr>
              <a:spcAft>
                <a:spcPts val="600"/>
              </a:spcAft>
              <a:defRPr sz="1200">
                <a:solidFill>
                  <a:srgbClr val="1E293B"/>
                </a:solidFill>
              </a:defRPr>
            </a:pPr>
            <a:r>
              <a:t>•  NFR-05 (Accessibility &amp; UX): WCAG compliance, high-contrast themes, screen-reader support, and keyboard shortcuts.</a:t>
            </a:r>
          </a:p>
          <a:p>
            <a:pPr>
              <a:spcAft>
                <a:spcPts val="600"/>
              </a:spcAft>
              <a:defRPr sz="1200">
                <a:solidFill>
                  <a:srgbClr val="1E293B"/>
                </a:solidFill>
              </a:defRPr>
            </a:pPr>
            <a:r>
              <a:t>•  NFR-06 (Reliability): Database health probe (/healthz), online SQLite backups, and automated expired token purges.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1B4332"/>
                </a:solidFill>
              </a:defRPr>
            </a:pPr>
            <a:r>
              <a:t>REVIEW 1 · ACCESS CONTROL</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Scope &amp; Role-Based Access Control (RBAC)</a:t>
            </a:r>
          </a:p>
        </p:txBody>
      </p:sp>
      <p:sp>
        <p:nvSpPr>
          <p:cNvPr id="5" name="Rounded Rectangle 4"/>
          <p:cNvSpPr/>
          <p:nvPr/>
        </p:nvSpPr>
        <p:spPr>
          <a:xfrm>
            <a:off x="731520" y="164592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0F172A"/>
                </a:solidFill>
              </a:defRPr>
            </a:pPr>
            <a:r>
              <a:t>Student / Member</a:t>
            </a:r>
          </a:p>
          <a:p>
            <a:pPr>
              <a:spcAft>
                <a:spcPts val="800"/>
              </a:spcAft>
              <a:defRPr sz="1100" i="1">
                <a:solidFill>
                  <a:srgbClr val="64748B"/>
                </a:solidFill>
              </a:defRPr>
            </a:pPr>
            <a:r>
              <a:t>Student Workspace (/login/student)</a:t>
            </a:r>
          </a:p>
          <a:p>
            <a:pPr>
              <a:spcAft>
                <a:spcPts val="600"/>
              </a:spcAft>
              <a:defRPr sz="1200">
                <a:solidFill>
                  <a:srgbClr val="1E293B"/>
                </a:solidFill>
              </a:defRPr>
            </a:pPr>
            <a:r>
              <a:t>•  Browse &amp; Search Catalog (by title, ISBN, course, semester, availability).</a:t>
            </a:r>
          </a:p>
          <a:p>
            <a:pPr>
              <a:spcAft>
                <a:spcPts val="600"/>
              </a:spcAft>
              <a:defRPr sz="1200">
                <a:solidFill>
                  <a:srgbClr val="1E293B"/>
                </a:solidFill>
              </a:defRPr>
            </a:pPr>
            <a:r>
              <a:t>•  Place Book Holds / Reservations (FIFO waitlist placement).</a:t>
            </a:r>
          </a:p>
          <a:p>
            <a:pPr>
              <a:spcAft>
                <a:spcPts val="600"/>
              </a:spcAft>
              <a:defRPr sz="1200">
                <a:solidFill>
                  <a:srgbClr val="1E293B"/>
                </a:solidFill>
              </a:defRPr>
            </a:pPr>
            <a:r>
              <a:t>•  View Active Loans, Due Dates, and Personal Fines.</a:t>
            </a:r>
          </a:p>
          <a:p>
            <a:pPr>
              <a:spcAft>
                <a:spcPts val="600"/>
              </a:spcAft>
              <a:defRPr sz="1200">
                <a:solidFill>
                  <a:srgbClr val="1E293B"/>
                </a:solidFill>
              </a:defRPr>
            </a:pPr>
            <a:r>
              <a:t>•  Submit Service Ratings (1-5 Stars) and Categorized Feedback.</a:t>
            </a:r>
          </a:p>
          <a:p>
            <a:pPr>
              <a:spcAft>
                <a:spcPts val="600"/>
              </a:spcAft>
              <a:defRPr sz="1200">
                <a:solidFill>
                  <a:srgbClr val="1E293B"/>
                </a:solidFill>
              </a:defRPr>
            </a:pPr>
            <a:r>
              <a:t>•  File Concerns / Complaints and track resolution in real-time.</a:t>
            </a:r>
          </a:p>
          <a:p>
            <a:pPr>
              <a:spcAft>
                <a:spcPts val="600"/>
              </a:spcAft>
              <a:defRPr sz="1200">
                <a:solidFill>
                  <a:srgbClr val="1E293B"/>
                </a:solidFill>
              </a:defRPr>
            </a:pPr>
            <a:r>
              <a:t>•  Receive in-app alerts for due dates, overdues, and hold availability.</a:t>
            </a:r>
          </a:p>
        </p:txBody>
      </p:sp>
      <p:sp>
        <p:nvSpPr>
          <p:cNvPr id="6" name="Rounded Rectangle 5"/>
          <p:cNvSpPr/>
          <p:nvPr/>
        </p:nvSpPr>
        <p:spPr>
          <a:xfrm>
            <a:off x="4389120" y="164592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1B4332"/>
                </a:solidFill>
              </a:defRPr>
            </a:pPr>
            <a:r>
              <a:t>Quality Manager</a:t>
            </a:r>
          </a:p>
          <a:p>
            <a:pPr>
              <a:spcAft>
                <a:spcPts val="800"/>
              </a:spcAft>
              <a:defRPr sz="1100" i="1">
                <a:solidFill>
                  <a:srgbClr val="64748B"/>
                </a:solidFill>
              </a:defRPr>
            </a:pPr>
            <a:r>
              <a:t>TQM Operations (/quality/)</a:t>
            </a:r>
          </a:p>
          <a:p>
            <a:pPr>
              <a:spcAft>
                <a:spcPts val="600"/>
              </a:spcAft>
              <a:defRPr sz="1200">
                <a:solidFill>
                  <a:srgbClr val="1E293B"/>
                </a:solidFill>
              </a:defRPr>
            </a:pPr>
            <a:r>
              <a:t>•  Monitor Real-time TQM Dashboard and continuous KPI metrics.</a:t>
            </a:r>
          </a:p>
          <a:p>
            <a:pPr>
              <a:spcAft>
                <a:spcPts val="600"/>
              </a:spcAft>
              <a:defRPr sz="1200">
                <a:solidFill>
                  <a:srgbClr val="1E293B"/>
                </a:solidFill>
              </a:defRPr>
            </a:pPr>
            <a:r>
              <a:t>•  Inspect Member Feedback and analyze satisfaction distributions.</a:t>
            </a:r>
          </a:p>
          <a:p>
            <a:pPr>
              <a:spcAft>
                <a:spcPts val="600"/>
              </a:spcAft>
              <a:defRPr sz="1200">
                <a:solidFill>
                  <a:srgbClr val="1E293B"/>
                </a:solidFill>
              </a:defRPr>
            </a:pPr>
            <a:r>
              <a:t>•  Conduct Pareto Analysis to isolate leading complaint categories.</a:t>
            </a:r>
          </a:p>
          <a:p>
            <a:pPr>
              <a:spcAft>
                <a:spcPts val="600"/>
              </a:spcAft>
              <a:defRPr sz="1200">
                <a:solidFill>
                  <a:srgbClr val="1E293B"/>
                </a:solidFill>
              </a:defRPr>
            </a:pPr>
            <a:r>
              <a:t>•  Facilitate Ishikawa (Fishbone) &amp; 5-Whys root-cause sessions.</a:t>
            </a:r>
          </a:p>
          <a:p>
            <a:pPr>
              <a:spcAft>
                <a:spcPts val="600"/>
              </a:spcAft>
              <a:defRPr sz="1200">
                <a:solidFill>
                  <a:srgbClr val="1E293B"/>
                </a:solidFill>
              </a:defRPr>
            </a:pPr>
            <a:r>
              <a:t>•  Create and track Kaizen Improvement Actions with assigned deadlines.</a:t>
            </a:r>
          </a:p>
          <a:p>
            <a:pPr>
              <a:spcAft>
                <a:spcPts val="600"/>
              </a:spcAft>
              <a:defRPr sz="1200">
                <a:solidFill>
                  <a:srgbClr val="1E293B"/>
                </a:solidFill>
              </a:defRPr>
            </a:pPr>
            <a:r>
              <a:t>•  Manage Deming PDCA Cycles from Plan through Act.</a:t>
            </a:r>
          </a:p>
          <a:p>
            <a:pPr>
              <a:spcAft>
                <a:spcPts val="600"/>
              </a:spcAft>
              <a:defRPr sz="1200">
                <a:solidFill>
                  <a:srgbClr val="1E293B"/>
                </a:solidFill>
              </a:defRPr>
            </a:pPr>
            <a:r>
              <a:t>•  Record Physical Inventory Audits to track accuracy.</a:t>
            </a:r>
          </a:p>
        </p:txBody>
      </p:sp>
      <p:sp>
        <p:nvSpPr>
          <p:cNvPr id="7" name="Rounded Rectangle 6"/>
          <p:cNvSpPr/>
          <p:nvPr/>
        </p:nvSpPr>
        <p:spPr>
          <a:xfrm>
            <a:off x="8046720" y="164592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D97706"/>
                </a:solidFill>
              </a:defRPr>
            </a:pPr>
            <a:r>
              <a:t>Admin / Librarian</a:t>
            </a:r>
          </a:p>
          <a:p>
            <a:pPr>
              <a:spcAft>
                <a:spcPts val="800"/>
              </a:spcAft>
              <a:defRPr sz="1100" i="1">
                <a:solidFill>
                  <a:srgbClr val="64748B"/>
                </a:solidFill>
              </a:defRPr>
            </a:pPr>
            <a:r>
              <a:t>Library Operations (/library/)</a:t>
            </a:r>
          </a:p>
          <a:p>
            <a:pPr>
              <a:spcAft>
                <a:spcPts val="600"/>
              </a:spcAft>
              <a:defRPr sz="1200">
                <a:solidFill>
                  <a:srgbClr val="1E293B"/>
                </a:solidFill>
              </a:defRPr>
            </a:pPr>
            <a:r>
              <a:t>•  Full Circulation Control: Issue books, process returns, waive/collect fines.</a:t>
            </a:r>
          </a:p>
          <a:p>
            <a:pPr>
              <a:spcAft>
                <a:spcPts val="600"/>
              </a:spcAft>
              <a:defRPr sz="1200">
                <a:solidFill>
                  <a:srgbClr val="1E293B"/>
                </a:solidFill>
              </a:defRPr>
            </a:pPr>
            <a:r>
              <a:t>•  Manage Physical Copies: Set status to Available, Maintenance, or Lost.</a:t>
            </a:r>
          </a:p>
          <a:p>
            <a:pPr>
              <a:spcAft>
                <a:spcPts val="600"/>
              </a:spcAft>
              <a:defRPr sz="1200">
                <a:solidFill>
                  <a:srgbClr val="1E293B"/>
                </a:solidFill>
              </a:defRPr>
            </a:pPr>
            <a:r>
              <a:t>•  Catalog Administration: Add/edit books, manage authors, categories, publishers.</a:t>
            </a:r>
          </a:p>
          <a:p>
            <a:pPr>
              <a:spcAft>
                <a:spcPts val="600"/>
              </a:spcAft>
              <a:defRPr sz="1200">
                <a:solidFill>
                  <a:srgbClr val="1E293B"/>
                </a:solidFill>
              </a:defRPr>
            </a:pPr>
            <a:r>
              <a:t>•  Bulk Data Import: Upload and preview catalog CSV files (up to 500 titles).</a:t>
            </a:r>
          </a:p>
          <a:p>
            <a:pPr>
              <a:spcAft>
                <a:spcPts val="600"/>
              </a:spcAft>
              <a:defRPr sz="1200">
                <a:solidFill>
                  <a:srgbClr val="1E293B"/>
                </a:solidFill>
              </a:defRPr>
            </a:pPr>
            <a:r>
              <a:t>•  Member Account Management: Activate/deactivate accounts, reset credentials.</a:t>
            </a:r>
          </a:p>
          <a:p>
            <a:pPr>
              <a:spcAft>
                <a:spcPts val="600"/>
              </a:spcAft>
              <a:defRPr sz="1200">
                <a:solidFill>
                  <a:srgbClr val="1E293B"/>
                </a:solidFill>
              </a:defRPr>
            </a:pPr>
            <a:r>
              <a:t>•  System Governance: Configure loan periods, daily fines, and review audit logs.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1B4332"/>
                </a:solidFill>
              </a:defRPr>
            </a:pPr>
            <a:r>
              <a:t>REVIEW 1 · ENGINEERING DESIGN</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Modular Folder Architecture &amp; Technology Stack</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1B4332"/>
                </a:solidFill>
              </a:defRPr>
            </a:pPr>
            <a:r>
              <a:t>Modular Folder Architecture</a:t>
            </a:r>
          </a:p>
          <a:p>
            <a:pPr>
              <a:spcAft>
                <a:spcPts val="800"/>
              </a:spcAft>
              <a:defRPr sz="1100" i="1">
                <a:solidFill>
                  <a:srgbClr val="64748B"/>
                </a:solidFill>
              </a:defRPr>
            </a:pPr>
            <a:r>
              <a:t>Clean Separation of Concerns (Blueprints)</a:t>
            </a:r>
          </a:p>
          <a:p>
            <a:pPr>
              <a:spcAft>
                <a:spcPts val="600"/>
              </a:spcAft>
              <a:defRPr sz="1200">
                <a:solidFill>
                  <a:srgbClr val="1E293B"/>
                </a:solidFill>
              </a:defRPr>
            </a:pPr>
            <a:r>
              <a:t>•  library_app/auth.py: Role-segregated auth, session versioning, password reset.</a:t>
            </a:r>
          </a:p>
          <a:p>
            <a:pPr>
              <a:spcAft>
                <a:spcPts val="600"/>
              </a:spcAft>
              <a:defRPr sz="1200">
                <a:solidFill>
                  <a:srgbClr val="1E293B"/>
                </a:solidFill>
              </a:defRPr>
            </a:pPr>
            <a:r>
              <a:t>•  library_app/catalog.py: Book cataloging, copy tracking, CSV preview/import.</a:t>
            </a:r>
          </a:p>
          <a:p>
            <a:pPr>
              <a:spcAft>
                <a:spcPts val="600"/>
              </a:spcAft>
              <a:defRPr sz="1200">
                <a:solidFill>
                  <a:srgbClr val="1E293B"/>
                </a:solidFill>
              </a:defRPr>
            </a:pPr>
            <a:r>
              <a:t>•  library_app/quality.py: VoC feedback, complaints, Pareto, Ishikawa, PDCA.</a:t>
            </a:r>
          </a:p>
          <a:p>
            <a:pPr>
              <a:spcAft>
                <a:spcPts val="600"/>
              </a:spcAft>
              <a:defRPr sz="1200">
                <a:solidFill>
                  <a:srgbClr val="1E293B"/>
                </a:solidFill>
              </a:defRPr>
            </a:pPr>
            <a:r>
              <a:t>•  library_app/reports.py: Dynamic reporting engine (CSV, Excel XLSX, ReportLab PDF).</a:t>
            </a:r>
          </a:p>
          <a:p>
            <a:pPr>
              <a:spcAft>
                <a:spcPts val="600"/>
              </a:spcAft>
              <a:defRPr sz="1200">
                <a:solidFill>
                  <a:srgbClr val="1E293B"/>
                </a:solidFill>
              </a:defRPr>
            </a:pPr>
            <a:r>
              <a:t>•  library_app/services.py: Reusable business logic, atomic loans, KPI aggregates.</a:t>
            </a:r>
          </a:p>
          <a:p>
            <a:pPr>
              <a:spcAft>
                <a:spcPts val="600"/>
              </a:spcAft>
              <a:defRPr sz="1200">
                <a:solidFill>
                  <a:srgbClr val="1E293B"/>
                </a:solidFill>
              </a:defRPr>
            </a:pPr>
            <a:r>
              <a:t>•  library_app/models.py: 14 SQLAlchemy ORM entities with check constraints.</a:t>
            </a:r>
          </a:p>
          <a:p>
            <a:pPr>
              <a:spcAft>
                <a:spcPts val="600"/>
              </a:spcAft>
              <a:defRPr sz="1200">
                <a:solidFill>
                  <a:srgbClr val="1E293B"/>
                </a:solidFill>
              </a:defRPr>
            </a:pPr>
            <a:r>
              <a:t>•  migrations/: Version-controlled Alembic schema migration scripts.</a:t>
            </a:r>
          </a:p>
          <a:p>
            <a:pPr>
              <a:spcAft>
                <a:spcPts val="600"/>
              </a:spcAft>
              <a:defRPr sz="1200">
                <a:solidFill>
                  <a:srgbClr val="1E293B"/>
                </a:solidFill>
              </a:defRPr>
            </a:pPr>
            <a:r>
              <a:t>•  tests/: Automated pytest suite verifying RBAC, workflows, and edge cases.</a:t>
            </a:r>
          </a:p>
        </p:txBody>
      </p:sp>
      <p:sp>
        <p:nvSpPr>
          <p:cNvPr id="6" name="Rounded Rectangle 5"/>
          <p:cNvSpPr/>
          <p:nvPr/>
        </p:nvSpPr>
        <p:spPr>
          <a:xfrm>
            <a:off x="62179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0F172A"/>
                </a:solidFill>
              </a:defRPr>
            </a:pPr>
            <a:r>
              <a:t>Comprehensive Technology Stack</a:t>
            </a:r>
          </a:p>
          <a:p>
            <a:pPr>
              <a:spcAft>
                <a:spcPts val="800"/>
              </a:spcAft>
              <a:defRPr sz="1100" i="1">
                <a:solidFill>
                  <a:srgbClr val="64748B"/>
                </a:solidFill>
              </a:defRPr>
            </a:pPr>
            <a:r>
              <a:t>Enterprise Python Web Ecosystem</a:t>
            </a:r>
          </a:p>
          <a:p>
            <a:pPr>
              <a:spcAft>
                <a:spcPts val="600"/>
              </a:spcAft>
              <a:defRPr sz="1200">
                <a:solidFill>
                  <a:srgbClr val="1E293B"/>
                </a:solidFill>
              </a:defRPr>
            </a:pPr>
            <a:r>
              <a:t>•  Backend Framework: Python 3.10+ with Flask 3.1.3 (Application Factory pattern).</a:t>
            </a:r>
          </a:p>
          <a:p>
            <a:pPr>
              <a:spcAft>
                <a:spcPts val="600"/>
              </a:spcAft>
              <a:defRPr sz="1200">
                <a:solidFill>
                  <a:srgbClr val="1E293B"/>
                </a:solidFill>
              </a:defRPr>
            </a:pPr>
            <a:r>
              <a:t>•  ORM &amp; Migrations: SQLAlchemy 2.1 &amp; Flask-Migrate (Alembic) with foreign keys enabled.</a:t>
            </a:r>
          </a:p>
          <a:p>
            <a:pPr>
              <a:spcAft>
                <a:spcPts val="600"/>
              </a:spcAft>
              <a:defRPr sz="1200">
                <a:solidFill>
                  <a:srgbClr val="1E293B"/>
                </a:solidFill>
              </a:defRPr>
            </a:pPr>
            <a:r>
              <a:t>•  Database Engine: SQLite (Local &amp; Development) / PostgreSQL (Production ready).</a:t>
            </a:r>
          </a:p>
          <a:p>
            <a:pPr>
              <a:spcAft>
                <a:spcPts val="600"/>
              </a:spcAft>
              <a:defRPr sz="1200">
                <a:solidFill>
                  <a:srgbClr val="1E293B"/>
                </a:solidFill>
              </a:defRPr>
            </a:pPr>
            <a:r>
              <a:t>•  Security &amp; Auth: Flask-Login, Flask-WTF (CSRF), Flask-Limiter, Werkzeug Security.</a:t>
            </a:r>
          </a:p>
          <a:p>
            <a:pPr>
              <a:spcAft>
                <a:spcPts val="600"/>
              </a:spcAft>
              <a:defRPr sz="1200">
                <a:solidFill>
                  <a:srgbClr val="1E293B"/>
                </a:solidFill>
              </a:defRPr>
            </a:pPr>
            <a:r>
              <a:t>•  Reporting Engines: ReportLab (Vector PDF generation) &amp; OpenPyXL (Excel spreadsheets).</a:t>
            </a:r>
          </a:p>
          <a:p>
            <a:pPr>
              <a:spcAft>
                <a:spcPts val="600"/>
              </a:spcAft>
              <a:defRPr sz="1200">
                <a:solidFill>
                  <a:srgbClr val="1E293B"/>
                </a:solidFill>
              </a:defRPr>
            </a:pPr>
            <a:r>
              <a:t>•  Frontend UI/UX: HTML5, CSS3, Bootstrap 5.3, Chart.js for data visualization.</a:t>
            </a:r>
          </a:p>
          <a:p>
            <a:pPr>
              <a:spcAft>
                <a:spcPts val="600"/>
              </a:spcAft>
              <a:defRPr sz="1200">
                <a:solidFill>
                  <a:srgbClr val="1E293B"/>
                </a:solidFill>
              </a:defRPr>
            </a:pPr>
            <a:r>
              <a:t>•  Testing &amp; CI/CD: Pytest 8.4 with 64 automated integration test cases.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1B4332"/>
                </a:solidFill>
              </a:defRPr>
            </a:pPr>
            <a:r>
              <a:t>REVIEW 1 · DATA ARCHITECTURE</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Database Schema &amp; Entity-Relationship Design</a:t>
            </a:r>
          </a:p>
        </p:txBody>
      </p:sp>
      <p:sp>
        <p:nvSpPr>
          <p:cNvPr id="5" name="Rounded Rectangle 4"/>
          <p:cNvSpPr/>
          <p:nvPr/>
        </p:nvSpPr>
        <p:spPr>
          <a:xfrm>
            <a:off x="731520" y="164592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0F172A"/>
                </a:solidFill>
              </a:defRPr>
            </a:pPr>
            <a:r>
              <a:t>Core Catalog &amp; Copies</a:t>
            </a:r>
          </a:p>
          <a:p>
            <a:pPr>
              <a:spcAft>
                <a:spcPts val="800"/>
              </a:spcAft>
              <a:defRPr sz="1100" i="1">
                <a:solidFill>
                  <a:srgbClr val="64748B"/>
                </a:solidFill>
              </a:defRPr>
            </a:pPr>
            <a:r>
              <a:t>Inventory Hierarchy</a:t>
            </a:r>
          </a:p>
          <a:p>
            <a:pPr>
              <a:spcAft>
                <a:spcPts val="600"/>
              </a:spcAft>
              <a:defRPr sz="1200">
                <a:solidFill>
                  <a:srgbClr val="1E293B"/>
                </a:solidFill>
              </a:defRPr>
            </a:pPr>
            <a:r>
              <a:t>•  books: Primary catalog entity (ISBN, Title, Year, Semester, FKs to author/category/course/publisher).</a:t>
            </a:r>
          </a:p>
          <a:p>
            <a:pPr>
              <a:spcAft>
                <a:spcPts val="600"/>
              </a:spcAft>
              <a:defRPr sz="1200">
                <a:solidFill>
                  <a:srgbClr val="1E293B"/>
                </a:solidFill>
              </a:defRPr>
            </a:pPr>
            <a:r>
              <a:t>•  book_copies: Represents physical inventory items with unique barcodes and status ('available', 'loaned', 'reserved', 'maintenance', 'lost').</a:t>
            </a:r>
          </a:p>
          <a:p>
            <a:pPr>
              <a:spcAft>
                <a:spcPts val="600"/>
              </a:spcAft>
              <a:defRPr sz="1200">
                <a:solidFill>
                  <a:srgbClr val="1E293B"/>
                </a:solidFill>
              </a:defRPr>
            </a:pPr>
            <a:r>
              <a:t>•  authors, categories, courses, publishers: Normalized lookup tables preventing redundant text data.</a:t>
            </a:r>
          </a:p>
        </p:txBody>
      </p:sp>
      <p:sp>
        <p:nvSpPr>
          <p:cNvPr id="6" name="Rounded Rectangle 5"/>
          <p:cNvSpPr/>
          <p:nvPr/>
        </p:nvSpPr>
        <p:spPr>
          <a:xfrm>
            <a:off x="4389120" y="164592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D97706"/>
                </a:solidFill>
              </a:defRPr>
            </a:pPr>
            <a:r>
              <a:t>Circulation &amp; Holds</a:t>
            </a:r>
          </a:p>
          <a:p>
            <a:pPr>
              <a:spcAft>
                <a:spcPts val="800"/>
              </a:spcAft>
              <a:defRPr sz="1100" i="1">
                <a:solidFill>
                  <a:srgbClr val="64748B"/>
                </a:solidFill>
              </a:defRPr>
            </a:pPr>
            <a:r>
              <a:t>Transactional Entities</a:t>
            </a:r>
          </a:p>
          <a:p>
            <a:pPr>
              <a:spcAft>
                <a:spcPts val="600"/>
              </a:spcAft>
              <a:defRPr sz="1200">
                <a:solidFill>
                  <a:srgbClr val="1E293B"/>
                </a:solidFill>
              </a:defRPr>
            </a:pPr>
            <a:r>
              <a:t>•  loans: Records checkout events with copy_id, member_id, issued_at, due_date, and returned_at.</a:t>
            </a:r>
          </a:p>
          <a:p>
            <a:pPr>
              <a:spcAft>
                <a:spcPts val="600"/>
              </a:spcAft>
              <a:defRPr sz="1200">
                <a:solidFill>
                  <a:srgbClr val="1E293B"/>
                </a:solidFill>
              </a:defRPr>
            </a:pPr>
            <a:r>
              <a:t>•  reservations: FIFO hold queue with available_at_request tracking for availability KPIs.</a:t>
            </a:r>
          </a:p>
          <a:p>
            <a:pPr>
              <a:spcAft>
                <a:spcPts val="600"/>
              </a:spcAft>
              <a:defRPr sz="1200">
                <a:solidFill>
                  <a:srgbClr val="1E293B"/>
                </a:solidFill>
              </a:defRPr>
            </a:pPr>
            <a:r>
              <a:t>•  fines: Cascade-linked to loans with exact decimal amounts and paid status flags.</a:t>
            </a:r>
          </a:p>
          <a:p>
            <a:pPr>
              <a:spcAft>
                <a:spcPts val="600"/>
              </a:spcAft>
              <a:defRPr sz="1200">
                <a:solidFill>
                  <a:srgbClr val="1E293B"/>
                </a:solidFill>
              </a:defRPr>
            </a:pPr>
            <a:r>
              <a:t>•  Unique Partial Index: Guarantees a physical copy cannot have two active loans.</a:t>
            </a:r>
          </a:p>
        </p:txBody>
      </p:sp>
      <p:sp>
        <p:nvSpPr>
          <p:cNvPr id="7" name="Rounded Rectangle 6"/>
          <p:cNvSpPr/>
          <p:nvPr/>
        </p:nvSpPr>
        <p:spPr>
          <a:xfrm>
            <a:off x="8046720" y="164592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1B4332"/>
                </a:solidFill>
              </a:defRPr>
            </a:pPr>
            <a:r>
              <a:t>TQM &amp; System Records</a:t>
            </a:r>
          </a:p>
          <a:p>
            <a:pPr>
              <a:spcAft>
                <a:spcPts val="800"/>
              </a:spcAft>
              <a:defRPr sz="1100" i="1">
                <a:solidFill>
                  <a:srgbClr val="64748B"/>
                </a:solidFill>
              </a:defRPr>
            </a:pPr>
            <a:r>
              <a:t>Quality &amp; Governance Entities</a:t>
            </a:r>
          </a:p>
          <a:p>
            <a:pPr>
              <a:spcAft>
                <a:spcPts val="600"/>
              </a:spcAft>
              <a:defRPr sz="1200">
                <a:solidFill>
                  <a:srgbClr val="1E293B"/>
                </a:solidFill>
              </a:defRPr>
            </a:pPr>
            <a:r>
              <a:t>•  feedback &amp; complaints: Categorized member service inputs linked to users.</a:t>
            </a:r>
          </a:p>
          <a:p>
            <a:pPr>
              <a:spcAft>
                <a:spcPts val="600"/>
              </a:spcAft>
              <a:defRPr sz="1200">
                <a:solidFill>
                  <a:srgbClr val="1E293B"/>
                </a:solidFill>
              </a:defRPr>
            </a:pPr>
            <a:r>
              <a:t>•  rootcauseanalyses: 6-Dimension Ishikawa factors + 5-Whys JSON structure.</a:t>
            </a:r>
          </a:p>
          <a:p>
            <a:pPr>
              <a:spcAft>
                <a:spcPts val="600"/>
              </a:spcAft>
              <a:defRPr sz="1200">
                <a:solidFill>
                  <a:srgbClr val="1E293B"/>
                </a:solidFill>
              </a:defRPr>
            </a:pPr>
            <a:r>
              <a:t>•  improvement_actions: Kaizen register with owner_id and deadline.</a:t>
            </a:r>
          </a:p>
          <a:p>
            <a:pPr>
              <a:spcAft>
                <a:spcPts val="600"/>
              </a:spcAft>
              <a:defRPr sz="1200">
                <a:solidFill>
                  <a:srgbClr val="1E293B"/>
                </a:solidFill>
              </a:defRPr>
            </a:pPr>
            <a:r>
              <a:t>•  pdca_cycles: Plan, Do, Check, Act stages with outcome notes.</a:t>
            </a:r>
          </a:p>
          <a:p>
            <a:pPr>
              <a:spcAft>
                <a:spcPts val="600"/>
              </a:spcAft>
              <a:defRPr sz="1200">
                <a:solidFill>
                  <a:srgbClr val="1E293B"/>
                </a:solidFill>
              </a:defRPr>
            </a:pPr>
            <a:r>
              <a:t>•  audit_logs &amp; bug_incidents: System governance and transparency.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10B981"/>
                </a:solidFill>
              </a:defRPr>
            </a:pPr>
            <a:r>
              <a:t>REVIEW 2 · IMPLEMENTATION MILESTONE</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FFFFFF"/>
                </a:solidFill>
              </a:defRPr>
            </a:pPr>
            <a:r>
              <a:t>Review 2 Overview: Fully Working Application</a:t>
            </a:r>
          </a:p>
        </p:txBody>
      </p:sp>
      <p:sp>
        <p:nvSpPr>
          <p:cNvPr id="5" name="Rounded Rectangle 4"/>
          <p:cNvSpPr/>
          <p:nvPr/>
        </p:nvSpPr>
        <p:spPr>
          <a:xfrm>
            <a:off x="731520" y="1645920"/>
            <a:ext cx="3291840" cy="4572000"/>
          </a:xfrm>
          <a:prstGeom prst="roundRect">
            <a:avLst/>
          </a:prstGeom>
          <a:solidFill>
            <a:srgbClr val="1E293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10B981"/>
                </a:solidFill>
              </a:defRPr>
            </a:pPr>
            <a:r>
              <a:t>Working Application</a:t>
            </a:r>
          </a:p>
          <a:p>
            <a:pPr>
              <a:spcAft>
                <a:spcPts val="800"/>
              </a:spcAft>
              <a:defRPr sz="1100" i="1">
                <a:solidFill>
                  <a:srgbClr val="E2E8F0"/>
                </a:solidFill>
              </a:defRPr>
            </a:pPr>
            <a:r>
              <a:t>Live Software Deployment</a:t>
            </a:r>
          </a:p>
          <a:p>
            <a:pPr>
              <a:spcAft>
                <a:spcPts val="600"/>
              </a:spcAft>
              <a:defRPr sz="1200">
                <a:solidFill>
                  <a:srgbClr val="E2E8F0"/>
                </a:solidFill>
              </a:defRPr>
            </a:pPr>
            <a:r>
              <a:t>•  Complete working web server running locally on Python 3.14.</a:t>
            </a:r>
          </a:p>
          <a:p>
            <a:pPr>
              <a:spcAft>
                <a:spcPts val="600"/>
              </a:spcAft>
              <a:defRPr sz="1200">
                <a:solidFill>
                  <a:srgbClr val="E2E8F0"/>
                </a:solidFill>
              </a:defRPr>
            </a:pPr>
            <a:r>
              <a:t>•  Zero placeholder mockups: every button, form, and chart connects to database tables.</a:t>
            </a:r>
          </a:p>
          <a:p>
            <a:pPr>
              <a:spcAft>
                <a:spcPts val="600"/>
              </a:spcAft>
              <a:defRPr sz="1200">
                <a:solidFill>
                  <a:srgbClr val="E2E8F0"/>
                </a:solidFill>
              </a:defRPr>
            </a:pPr>
            <a:r>
              <a:t>•  Live health probe (/healthz) verifying database latency &amp; uptime.</a:t>
            </a:r>
          </a:p>
          <a:p>
            <a:pPr>
              <a:spcAft>
                <a:spcPts val="600"/>
              </a:spcAft>
              <a:defRPr sz="1200">
                <a:solidFill>
                  <a:srgbClr val="E2E8F0"/>
                </a:solidFill>
              </a:defRPr>
            </a:pPr>
            <a:r>
              <a:t>•  Interactive theme switching (Forest Green, Light, Dark) &amp; High-contrast accessibility.</a:t>
            </a:r>
          </a:p>
        </p:txBody>
      </p:sp>
      <p:sp>
        <p:nvSpPr>
          <p:cNvPr id="6" name="Rounded Rectangle 5"/>
          <p:cNvSpPr/>
          <p:nvPr/>
        </p:nvSpPr>
        <p:spPr>
          <a:xfrm>
            <a:off x="4389120" y="1645920"/>
            <a:ext cx="3291840" cy="4572000"/>
          </a:xfrm>
          <a:prstGeom prst="roundRect">
            <a:avLst/>
          </a:prstGeom>
          <a:solidFill>
            <a:srgbClr val="1E293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38BDF8"/>
                </a:solidFill>
              </a:defRPr>
            </a:pPr>
            <a:r>
              <a:t>End-to-End Workflows</a:t>
            </a:r>
          </a:p>
          <a:p>
            <a:pPr>
              <a:spcAft>
                <a:spcPts val="800"/>
              </a:spcAft>
              <a:defRPr sz="1100" i="1">
                <a:solidFill>
                  <a:srgbClr val="E2E8F0"/>
                </a:solidFill>
              </a:defRPr>
            </a:pPr>
            <a:r>
              <a:t>Production-Grade Workflows</a:t>
            </a:r>
          </a:p>
          <a:p>
            <a:pPr>
              <a:spcAft>
                <a:spcPts val="600"/>
              </a:spcAft>
              <a:defRPr sz="1200">
                <a:solidFill>
                  <a:srgbClr val="E2E8F0"/>
                </a:solidFill>
              </a:defRPr>
            </a:pPr>
            <a:r>
              <a:t>•  Full CRUD operations implemented across all catalog and circulation entities.</a:t>
            </a:r>
          </a:p>
          <a:p>
            <a:pPr>
              <a:spcAft>
                <a:spcPts val="600"/>
              </a:spcAft>
              <a:defRPr sz="1200">
                <a:solidFill>
                  <a:srgbClr val="E2E8F0"/>
                </a:solidFill>
              </a:defRPr>
            </a:pPr>
            <a:r>
              <a:t>•  Atomic book borrowing and return with instantaneous inventory status flips.</a:t>
            </a:r>
          </a:p>
          <a:p>
            <a:pPr>
              <a:spcAft>
                <a:spcPts val="600"/>
              </a:spcAft>
              <a:defRPr sz="1200">
                <a:solidFill>
                  <a:srgbClr val="E2E8F0"/>
                </a:solidFill>
              </a:defRPr>
            </a:pPr>
            <a:r>
              <a:t>•  Automated reservation promotion when held books are returned.</a:t>
            </a:r>
          </a:p>
          <a:p>
            <a:pPr>
              <a:spcAft>
                <a:spcPts val="600"/>
              </a:spcAft>
              <a:defRPr sz="1200">
                <a:solidFill>
                  <a:srgbClr val="E2E8F0"/>
                </a:solidFill>
              </a:defRPr>
            </a:pPr>
            <a:r>
              <a:t>•  Complete TQM lifecycle: VoC feedback → Complaint → Fishbone → Action → PDCA.</a:t>
            </a:r>
          </a:p>
        </p:txBody>
      </p:sp>
      <p:sp>
        <p:nvSpPr>
          <p:cNvPr id="7" name="Rounded Rectangle 6"/>
          <p:cNvSpPr/>
          <p:nvPr/>
        </p:nvSpPr>
        <p:spPr>
          <a:xfrm>
            <a:off x="8046720" y="1645920"/>
            <a:ext cx="3291840" cy="4572000"/>
          </a:xfrm>
          <a:prstGeom prst="roundRect">
            <a:avLst/>
          </a:prstGeom>
          <a:solidFill>
            <a:srgbClr val="1E293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D97706"/>
                </a:solidFill>
              </a:defRPr>
            </a:pPr>
            <a:r>
              <a:t>Automated Verification</a:t>
            </a:r>
          </a:p>
          <a:p>
            <a:pPr>
              <a:spcAft>
                <a:spcPts val="800"/>
              </a:spcAft>
              <a:defRPr sz="1100" i="1">
                <a:solidFill>
                  <a:srgbClr val="E2E8F0"/>
                </a:solidFill>
              </a:defRPr>
            </a:pPr>
            <a:r>
              <a:t>Rigorous Quality Assurance</a:t>
            </a:r>
          </a:p>
          <a:p>
            <a:pPr>
              <a:spcAft>
                <a:spcPts val="600"/>
              </a:spcAft>
              <a:defRPr sz="1200">
                <a:solidFill>
                  <a:srgbClr val="E2E8F0"/>
                </a:solidFill>
              </a:defRPr>
            </a:pPr>
            <a:r>
              <a:t>•  64 out of 64 unit and integration tests passing in Pytest.</a:t>
            </a:r>
          </a:p>
          <a:p>
            <a:pPr>
              <a:spcAft>
                <a:spcPts val="600"/>
              </a:spcAft>
              <a:defRPr sz="1200">
                <a:solidFill>
                  <a:srgbClr val="E2E8F0"/>
                </a:solidFill>
              </a:defRPr>
            </a:pPr>
            <a:r>
              <a:t>•  100% CSRF coverage verified across all 37 POST form actions.</a:t>
            </a:r>
          </a:p>
          <a:p>
            <a:pPr>
              <a:spcAft>
                <a:spcPts val="600"/>
              </a:spcAft>
              <a:defRPr sz="1200">
                <a:solidFill>
                  <a:srgbClr val="E2E8F0"/>
                </a:solidFill>
              </a:defRPr>
            </a:pPr>
            <a:r>
              <a:t>•  Alembic database migrations fully synchronized to head revision.</a:t>
            </a:r>
          </a:p>
          <a:p>
            <a:pPr>
              <a:spcAft>
                <a:spcPts val="600"/>
              </a:spcAft>
              <a:defRPr sz="1200">
                <a:solidFill>
                  <a:srgbClr val="E2E8F0"/>
                </a:solidFill>
              </a:defRPr>
            </a:pPr>
            <a:r>
              <a:t>•  Online SQLite backup and automated expired record purging tested.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1B4332"/>
                </a:solidFill>
              </a:defRPr>
            </a:pPr>
            <a:r>
              <a:t>REVIEW 2 · FUNCTIONAL DELIVERY</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Comprehensive CRUD Operations Across Modules</a:t>
            </a:r>
          </a:p>
        </p:txBody>
      </p:sp>
      <p:sp>
        <p:nvSpPr>
          <p:cNvPr id="5" name="Rounded Rectangle 4"/>
          <p:cNvSpPr/>
          <p:nvPr/>
        </p:nvSpPr>
        <p:spPr>
          <a:xfrm>
            <a:off x="731520" y="164592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0F172A"/>
                </a:solidFill>
              </a:defRPr>
            </a:pPr>
            <a:r>
              <a:t>Catalog &amp; Physical Inventory CRUD</a:t>
            </a:r>
          </a:p>
          <a:p>
            <a:pPr>
              <a:spcAft>
                <a:spcPts val="600"/>
              </a:spcAft>
              <a:defRPr sz="1200">
                <a:solidFill>
                  <a:srgbClr val="1E293B"/>
                </a:solidFill>
              </a:defRPr>
            </a:pPr>
            <a:r>
              <a:t>•  Create: Add books with ISBN-10/13 validation and batch-generate barcoded copies.</a:t>
            </a:r>
          </a:p>
          <a:p>
            <a:pPr>
              <a:spcAft>
                <a:spcPts val="600"/>
              </a:spcAft>
              <a:defRPr sz="1200">
                <a:solidFill>
                  <a:srgbClr val="1E293B"/>
                </a:solidFill>
              </a:defRPr>
            </a:pPr>
            <a:r>
              <a:t>•  Read: Multi-filter search (Title, Author, ISBN, Subject, Course, Availability).</a:t>
            </a:r>
          </a:p>
          <a:p>
            <a:pPr>
              <a:spcAft>
                <a:spcPts val="600"/>
              </a:spcAft>
              <a:defRPr sz="1200">
                <a:solidFill>
                  <a:srgbClr val="1E293B"/>
                </a:solidFill>
              </a:defRPr>
            </a:pPr>
            <a:r>
              <a:t>•  Update: Modify book metadata and add copies; adjust physical copy status.</a:t>
            </a:r>
          </a:p>
          <a:p>
            <a:pPr>
              <a:spcAft>
                <a:spcPts val="600"/>
              </a:spcAft>
              <a:defRPr sz="1200">
                <a:solidFill>
                  <a:srgbClr val="1E293B"/>
                </a:solidFill>
              </a:defRPr>
            </a:pPr>
            <a:r>
              <a:t>•  Delete: Protected deletion preventing removal of books with circulation history.</a:t>
            </a:r>
          </a:p>
        </p:txBody>
      </p:sp>
      <p:sp>
        <p:nvSpPr>
          <p:cNvPr id="6" name="Rounded Rectangle 5"/>
          <p:cNvSpPr/>
          <p:nvPr/>
        </p:nvSpPr>
        <p:spPr>
          <a:xfrm>
            <a:off x="6217920" y="164592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1B4332"/>
                </a:solidFill>
              </a:defRPr>
            </a:pPr>
            <a:r>
              <a:t>Circulation &amp; Loan CRUD</a:t>
            </a:r>
          </a:p>
          <a:p>
            <a:pPr>
              <a:spcAft>
                <a:spcPts val="600"/>
              </a:spcAft>
              <a:defRPr sz="1200">
                <a:solidFill>
                  <a:srgbClr val="1E293B"/>
                </a:solidFill>
              </a:defRPr>
            </a:pPr>
            <a:r>
              <a:t>•  Create: Atomic checkout assigning an available copy to a member.</a:t>
            </a:r>
          </a:p>
          <a:p>
            <a:pPr>
              <a:spcAft>
                <a:spcPts val="600"/>
              </a:spcAft>
              <a:defRPr sz="1200">
                <a:solidFill>
                  <a:srgbClr val="1E293B"/>
                </a:solidFill>
              </a:defRPr>
            </a:pPr>
            <a:r>
              <a:t>•  Read: Active loan register, overdue monitoring, and personal borrowing logs.</a:t>
            </a:r>
          </a:p>
          <a:p>
            <a:pPr>
              <a:spcAft>
                <a:spcPts val="600"/>
              </a:spcAft>
              <a:defRPr sz="1200">
                <a:solidFill>
                  <a:srgbClr val="1E293B"/>
                </a:solidFill>
              </a:defRPr>
            </a:pPr>
            <a:r>
              <a:t>•  Update: Check-in processing, fine ledger assessment, and hold fulfillment.</a:t>
            </a:r>
          </a:p>
          <a:p>
            <a:pPr>
              <a:spcAft>
                <a:spcPts val="600"/>
              </a:spcAft>
              <a:defRPr sz="1200">
                <a:solidFill>
                  <a:srgbClr val="1E293B"/>
                </a:solidFill>
              </a:defRPr>
            </a:pPr>
            <a:r>
              <a:t>•  Delete: Audit trail preservation (loans are transitioned, never destroyed).</a:t>
            </a:r>
          </a:p>
        </p:txBody>
      </p:sp>
      <p:sp>
        <p:nvSpPr>
          <p:cNvPr id="7" name="Rounded Rectangle 6"/>
          <p:cNvSpPr/>
          <p:nvPr/>
        </p:nvSpPr>
        <p:spPr>
          <a:xfrm>
            <a:off x="731520" y="402336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B91C1C"/>
                </a:solidFill>
              </a:defRPr>
            </a:pPr>
            <a:r>
              <a:t>TQM Service Register CRUD</a:t>
            </a:r>
          </a:p>
          <a:p>
            <a:pPr>
              <a:spcAft>
                <a:spcPts val="600"/>
              </a:spcAft>
              <a:defRPr sz="1200">
                <a:solidFill>
                  <a:srgbClr val="1E293B"/>
                </a:solidFill>
              </a:defRPr>
            </a:pPr>
            <a:r>
              <a:t>•  Create: Submit 1-5 feedback ratings and formal categorized complaints.</a:t>
            </a:r>
          </a:p>
          <a:p>
            <a:pPr>
              <a:spcAft>
                <a:spcPts val="600"/>
              </a:spcAft>
              <a:defRPr sz="1200">
                <a:solidFill>
                  <a:srgbClr val="1E293B"/>
                </a:solidFill>
              </a:defRPr>
            </a:pPr>
            <a:r>
              <a:t>•  Read: Filterable complaint register with search, status, and category sorting.</a:t>
            </a:r>
          </a:p>
          <a:p>
            <a:pPr>
              <a:spcAft>
                <a:spcPts val="600"/>
              </a:spcAft>
              <a:defRPr sz="1200">
                <a:solidFill>
                  <a:srgbClr val="1E293B"/>
                </a:solidFill>
              </a:defRPr>
            </a:pPr>
            <a:r>
              <a:t>•  Update: Transition complaint status (Open → In Progress → Resolved → Closed).</a:t>
            </a:r>
          </a:p>
          <a:p>
            <a:pPr>
              <a:spcAft>
                <a:spcPts val="600"/>
              </a:spcAft>
              <a:defRPr sz="1200">
                <a:solidFill>
                  <a:srgbClr val="1E293B"/>
                </a:solidFill>
              </a:defRPr>
            </a:pPr>
            <a:r>
              <a:t>•  Delete: Permanent audit history with automated user notification on change.</a:t>
            </a:r>
          </a:p>
        </p:txBody>
      </p:sp>
      <p:sp>
        <p:nvSpPr>
          <p:cNvPr id="8" name="Rounded Rectangle 7"/>
          <p:cNvSpPr/>
          <p:nvPr/>
        </p:nvSpPr>
        <p:spPr>
          <a:xfrm>
            <a:off x="6217920" y="402336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D97706"/>
                </a:solidFill>
              </a:defRPr>
            </a:pPr>
            <a:r>
              <a:t>Administrative &amp; Metadata CRUD</a:t>
            </a:r>
          </a:p>
          <a:p>
            <a:pPr>
              <a:spcAft>
                <a:spcPts val="600"/>
              </a:spcAft>
              <a:defRPr sz="1200">
                <a:solidFill>
                  <a:srgbClr val="1E293B"/>
                </a:solidFill>
              </a:defRPr>
            </a:pPr>
            <a:r>
              <a:t>•  Create: Self-registration for students; CLI creation for staff accounts.</a:t>
            </a:r>
          </a:p>
          <a:p>
            <a:pPr>
              <a:spcAft>
                <a:spcPts val="600"/>
              </a:spcAft>
              <a:defRPr sz="1200">
                <a:solidFill>
                  <a:srgbClr val="1E293B"/>
                </a:solidFill>
              </a:defRPr>
            </a:pPr>
            <a:r>
              <a:t>•  Read: Complete member directory, system settings, and security audit log.</a:t>
            </a:r>
          </a:p>
          <a:p>
            <a:pPr>
              <a:spcAft>
                <a:spcPts val="600"/>
              </a:spcAft>
              <a:defRPr sz="1200">
                <a:solidFill>
                  <a:srgbClr val="1E293B"/>
                </a:solidFill>
              </a:defRPr>
            </a:pPr>
            <a:r>
              <a:t>•  Update: Member activation toggling, profile editing, and password reset.</a:t>
            </a:r>
          </a:p>
          <a:p>
            <a:pPr>
              <a:spcAft>
                <a:spcPts val="600"/>
              </a:spcAft>
              <a:defRPr sz="1200">
                <a:solidFill>
                  <a:srgbClr val="1E293B"/>
                </a:solidFill>
              </a:defRPr>
            </a:pPr>
            <a:r>
              <a:t>•  Delete/Purge: Safe cleanup of expired reset tokens and catalog import previews.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1B4332"/>
                </a:solidFill>
              </a:defRPr>
            </a:pPr>
            <a:r>
              <a:t>REVIEW 2 · OPERATIONAL WORKFLOWS</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Circulation Workflow: Issue, Return, &amp; Hold Allocation</a:t>
            </a:r>
          </a:p>
        </p:txBody>
      </p:sp>
      <p:sp>
        <p:nvSpPr>
          <p:cNvPr id="5" name="Rounded Rectangle 4"/>
          <p:cNvSpPr/>
          <p:nvPr/>
        </p:nvSpPr>
        <p:spPr>
          <a:xfrm>
            <a:off x="731520" y="164592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0F172A"/>
                </a:solidFill>
              </a:defRPr>
            </a:pPr>
            <a:r>
              <a:t>Step 1: Atomic Issue</a:t>
            </a:r>
          </a:p>
          <a:p>
            <a:pPr>
              <a:spcAft>
                <a:spcPts val="800"/>
              </a:spcAft>
              <a:defRPr sz="1100" i="1">
                <a:solidFill>
                  <a:srgbClr val="64748B"/>
                </a:solidFill>
              </a:defRPr>
            </a:pPr>
            <a:r>
              <a:t>Safe Check-Out Transaction</a:t>
            </a:r>
          </a:p>
          <a:p>
            <a:pPr>
              <a:spcAft>
                <a:spcPts val="600"/>
              </a:spcAft>
              <a:defRPr sz="1200">
                <a:solidFill>
                  <a:srgbClr val="1E293B"/>
                </a:solidFill>
              </a:defRPr>
            </a:pPr>
            <a:r>
              <a:t>•  Staff selects member and requested book title.</a:t>
            </a:r>
          </a:p>
          <a:p>
            <a:pPr>
              <a:spcAft>
                <a:spcPts val="600"/>
              </a:spcAft>
              <a:defRPr sz="1200">
                <a:solidFill>
                  <a:srgbClr val="1E293B"/>
                </a:solidFill>
              </a:defRPr>
            </a:pPr>
            <a:r>
              <a:t>•  System executes with_for_update() row lock.</a:t>
            </a:r>
          </a:p>
          <a:p>
            <a:pPr>
              <a:spcAft>
                <a:spcPts val="600"/>
              </a:spcAft>
              <a:defRPr sz="1200">
                <a:solidFill>
                  <a:srgbClr val="1E293B"/>
                </a:solidFill>
              </a:defRPr>
            </a:pPr>
            <a:r>
              <a:t>•  Validates active membership status.</a:t>
            </a:r>
          </a:p>
          <a:p>
            <a:pPr>
              <a:spcAft>
                <a:spcPts val="600"/>
              </a:spcAft>
              <a:defRPr sz="1200">
                <a:solidFill>
                  <a:srgbClr val="1E293B"/>
                </a:solidFill>
              </a:defRPr>
            </a:pPr>
            <a:r>
              <a:t>•  Rejects if member already has active loan for title.</a:t>
            </a:r>
          </a:p>
          <a:p>
            <a:pPr>
              <a:spcAft>
                <a:spcPts val="600"/>
              </a:spcAft>
              <a:defRPr sz="1200">
                <a:solidFill>
                  <a:srgbClr val="1E293B"/>
                </a:solidFill>
              </a:defRPr>
            </a:pPr>
            <a:r>
              <a:t>•  Picks first available physical copy.</a:t>
            </a:r>
          </a:p>
          <a:p>
            <a:pPr>
              <a:spcAft>
                <a:spcPts val="600"/>
              </a:spcAft>
              <a:defRPr sz="1200">
                <a:solidFill>
                  <a:srgbClr val="1E293B"/>
                </a:solidFill>
              </a:defRPr>
            </a:pPr>
            <a:r>
              <a:t>•  Transitions copy status: available → loaned.</a:t>
            </a:r>
          </a:p>
          <a:p>
            <a:pPr>
              <a:spcAft>
                <a:spcPts val="600"/>
              </a:spcAft>
              <a:defRPr sz="1200">
                <a:solidFill>
                  <a:srgbClr val="1E293B"/>
                </a:solidFill>
              </a:defRPr>
            </a:pPr>
            <a:r>
              <a:t>•  Records due date based on system policy.</a:t>
            </a:r>
          </a:p>
          <a:p>
            <a:pPr>
              <a:spcAft>
                <a:spcPts val="600"/>
              </a:spcAft>
              <a:defRPr sz="1200">
                <a:solidFill>
                  <a:srgbClr val="1E293B"/>
                </a:solidFill>
              </a:defRPr>
            </a:pPr>
            <a:r>
              <a:t>•  Generates in-app due date alert and audit log.</a:t>
            </a:r>
          </a:p>
        </p:txBody>
      </p:sp>
      <p:sp>
        <p:nvSpPr>
          <p:cNvPr id="6" name="Rounded Rectangle 5"/>
          <p:cNvSpPr/>
          <p:nvPr/>
        </p:nvSpPr>
        <p:spPr>
          <a:xfrm>
            <a:off x="4389120" y="164592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D97706"/>
                </a:solidFill>
              </a:defRPr>
            </a:pPr>
            <a:r>
              <a:t>Step 2: Check-In &amp; Fines</a:t>
            </a:r>
          </a:p>
          <a:p>
            <a:pPr>
              <a:spcAft>
                <a:spcPts val="800"/>
              </a:spcAft>
              <a:defRPr sz="1100" i="1">
                <a:solidFill>
                  <a:srgbClr val="64748B"/>
                </a:solidFill>
              </a:defRPr>
            </a:pPr>
            <a:r>
              <a:t>Automatic Fine Assessment</a:t>
            </a:r>
          </a:p>
          <a:p>
            <a:pPr>
              <a:spcAft>
                <a:spcPts val="600"/>
              </a:spcAft>
              <a:defRPr sz="1200">
                <a:solidFill>
                  <a:srgbClr val="1E293B"/>
                </a:solidFill>
              </a:defRPr>
            </a:pPr>
            <a:r>
              <a:t>•  Librarian triggers return on active loan record.</a:t>
            </a:r>
          </a:p>
          <a:p>
            <a:pPr>
              <a:spcAft>
                <a:spcPts val="600"/>
              </a:spcAft>
              <a:defRPr sz="1200">
                <a:solidFill>
                  <a:srgbClr val="1E293B"/>
                </a:solidFill>
              </a:defRPr>
            </a:pPr>
            <a:r>
              <a:t>•  Calculates days late: max(0, today - due_date).</a:t>
            </a:r>
          </a:p>
          <a:p>
            <a:pPr>
              <a:spcAft>
                <a:spcPts val="600"/>
              </a:spcAft>
              <a:defRPr sz="1200">
                <a:solidFill>
                  <a:srgbClr val="1E293B"/>
                </a:solidFill>
              </a:defRPr>
            </a:pPr>
            <a:r>
              <a:t>•  If late: calculates fine = days × fine_per_day.</a:t>
            </a:r>
          </a:p>
          <a:p>
            <a:pPr>
              <a:spcAft>
                <a:spcPts val="600"/>
              </a:spcAft>
              <a:defRPr sz="1200">
                <a:solidFill>
                  <a:srgbClr val="1E293B"/>
                </a:solidFill>
              </a:defRPr>
            </a:pPr>
            <a:r>
              <a:t>•  Creates immutable Fine ledger record.</a:t>
            </a:r>
          </a:p>
          <a:p>
            <a:pPr>
              <a:spcAft>
                <a:spcPts val="600"/>
              </a:spcAft>
              <a:defRPr sz="1200">
                <a:solidFill>
                  <a:srgbClr val="1E293B"/>
                </a:solidFill>
              </a:defRPr>
            </a:pPr>
            <a:r>
              <a:t>•  Loan status transitions: active → returned.</a:t>
            </a:r>
          </a:p>
          <a:p>
            <a:pPr>
              <a:spcAft>
                <a:spcPts val="600"/>
              </a:spcAft>
              <a:defRPr sz="1200">
                <a:solidFill>
                  <a:srgbClr val="1E293B"/>
                </a:solidFill>
              </a:defRPr>
            </a:pPr>
            <a:r>
              <a:t>•  Timestamp returned_at is recorded.</a:t>
            </a:r>
          </a:p>
          <a:p>
            <a:pPr>
              <a:spcAft>
                <a:spcPts val="600"/>
              </a:spcAft>
              <a:defRPr sz="1200">
                <a:solidFill>
                  <a:srgbClr val="1E293B"/>
                </a:solidFill>
              </a:defRPr>
            </a:pPr>
            <a:r>
              <a:t>•  Staff member who received the return is audited.</a:t>
            </a:r>
          </a:p>
        </p:txBody>
      </p:sp>
      <p:sp>
        <p:nvSpPr>
          <p:cNvPr id="7" name="Rounded Rectangle 6"/>
          <p:cNvSpPr/>
          <p:nvPr/>
        </p:nvSpPr>
        <p:spPr>
          <a:xfrm>
            <a:off x="8046720" y="1645920"/>
            <a:ext cx="32918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1B4332"/>
                </a:solidFill>
              </a:defRPr>
            </a:pPr>
            <a:r>
              <a:t>Step 3: Hold Allocation</a:t>
            </a:r>
          </a:p>
          <a:p>
            <a:pPr>
              <a:spcAft>
                <a:spcPts val="800"/>
              </a:spcAft>
              <a:defRPr sz="1100" i="1">
                <a:solidFill>
                  <a:srgbClr val="64748B"/>
                </a:solidFill>
              </a:defRPr>
            </a:pPr>
            <a:r>
              <a:t>Automated FIFO Waitlist Promotion</a:t>
            </a:r>
          </a:p>
          <a:p>
            <a:pPr>
              <a:spcAft>
                <a:spcPts val="600"/>
              </a:spcAft>
              <a:defRPr sz="1200">
                <a:solidFill>
                  <a:srgbClr val="1E293B"/>
                </a:solidFill>
              </a:defRPr>
            </a:pPr>
            <a:r>
              <a:t>•  Queries pending reservations for the returned title.</a:t>
            </a:r>
          </a:p>
          <a:p>
            <a:pPr>
              <a:spcAft>
                <a:spcPts val="600"/>
              </a:spcAft>
              <a:defRPr sz="1200">
                <a:solidFill>
                  <a:srgbClr val="1E293B"/>
                </a:solidFill>
              </a:defRPr>
            </a:pPr>
            <a:r>
              <a:t>•  If waiting member exists (FIFO order):</a:t>
            </a:r>
          </a:p>
          <a:p>
            <a:pPr>
              <a:spcAft>
                <a:spcPts val="600"/>
              </a:spcAft>
              <a:defRPr sz="1200">
                <a:solidFill>
                  <a:srgbClr val="1E293B"/>
                </a:solidFill>
              </a:defRPr>
            </a:pPr>
            <a:r>
              <a:t>•    • Promotes reservation status: waiting → ready.</a:t>
            </a:r>
          </a:p>
          <a:p>
            <a:pPr>
              <a:spcAft>
                <a:spcPts val="600"/>
              </a:spcAft>
              <a:defRPr sz="1200">
                <a:solidFill>
                  <a:srgbClr val="1E293B"/>
                </a:solidFill>
              </a:defRPr>
            </a:pPr>
            <a:r>
              <a:t>•    • Allocates returned copy: status → reserved.</a:t>
            </a:r>
          </a:p>
          <a:p>
            <a:pPr>
              <a:spcAft>
                <a:spcPts val="600"/>
              </a:spcAft>
              <a:defRPr sz="1200">
                <a:solidFill>
                  <a:srgbClr val="1E293B"/>
                </a:solidFill>
              </a:defRPr>
            </a:pPr>
            <a:r>
              <a:t>•    • Sends instant pickup notification to student.</a:t>
            </a:r>
          </a:p>
          <a:p>
            <a:pPr>
              <a:spcAft>
                <a:spcPts val="600"/>
              </a:spcAft>
              <a:defRPr sz="1200">
                <a:solidFill>
                  <a:srgbClr val="1E293B"/>
                </a:solidFill>
              </a:defRPr>
            </a:pPr>
            <a:r>
              <a:t>•  If no waiting reservation exists:</a:t>
            </a:r>
          </a:p>
          <a:p>
            <a:pPr>
              <a:spcAft>
                <a:spcPts val="600"/>
              </a:spcAft>
              <a:defRPr sz="1200">
                <a:solidFill>
                  <a:srgbClr val="1E293B"/>
                </a:solidFill>
              </a:defRPr>
            </a:pPr>
            <a:r>
              <a:t>•    • Copy status returns to: available.</a:t>
            </a:r>
          </a:p>
          <a:p>
            <a:pPr>
              <a:spcAft>
                <a:spcPts val="600"/>
              </a:spcAft>
              <a:defRPr sz="1200">
                <a:solidFill>
                  <a:srgbClr val="1E293B"/>
                </a:solidFill>
              </a:defRPr>
            </a:pPr>
            <a:r>
              <a:t>•  Transaction commits atomically.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1B4332"/>
                </a:solidFill>
              </a:defRPr>
            </a:pPr>
            <a:r>
              <a:t>REVIEW 2 · QUALITY MODULE 1</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Voice of Customer (VoC) &amp; Pareto 80/20 Analysis</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0F172A"/>
                </a:solidFill>
              </a:defRPr>
            </a:pPr>
            <a:r>
              <a:t>Voice of the Customer (VoC)</a:t>
            </a:r>
          </a:p>
          <a:p>
            <a:pPr>
              <a:spcAft>
                <a:spcPts val="800"/>
              </a:spcAft>
              <a:defRPr sz="1100" i="1">
                <a:solidFill>
                  <a:srgbClr val="64748B"/>
                </a:solidFill>
              </a:defRPr>
            </a:pPr>
            <a:r>
              <a:t>Student Feedback &amp; Concern Channels</a:t>
            </a:r>
          </a:p>
          <a:p>
            <a:pPr>
              <a:spcAft>
                <a:spcPts val="600"/>
              </a:spcAft>
              <a:defRPr sz="1200">
                <a:solidFill>
                  <a:srgbClr val="1E293B"/>
                </a:solidFill>
              </a:defRPr>
            </a:pPr>
            <a:r>
              <a:t>•  Multi-Category Rating System: Students submit ratings (1 to 5 stars) across 6 operational categories:</a:t>
            </a:r>
          </a:p>
          <a:p>
            <a:pPr>
              <a:spcAft>
                <a:spcPts val="600"/>
              </a:spcAft>
              <a:defRPr sz="1200">
                <a:solidFill>
                  <a:srgbClr val="1E293B"/>
                </a:solidFill>
              </a:defRPr>
            </a:pPr>
            <a:r>
              <a:t>•    • Book Availability</a:t>
            </a:r>
          </a:p>
          <a:p>
            <a:pPr>
              <a:spcAft>
                <a:spcPts val="600"/>
              </a:spcAft>
              <a:defRPr sz="1200">
                <a:solidFill>
                  <a:srgbClr val="1E293B"/>
                </a:solidFill>
              </a:defRPr>
            </a:pPr>
            <a:r>
              <a:t>•    • Staff Service</a:t>
            </a:r>
          </a:p>
          <a:p>
            <a:pPr>
              <a:spcAft>
                <a:spcPts val="600"/>
              </a:spcAft>
              <a:defRPr sz="1200">
                <a:solidFill>
                  <a:srgbClr val="1E293B"/>
                </a:solidFill>
              </a:defRPr>
            </a:pPr>
            <a:r>
              <a:t>•    • Waiting Time</a:t>
            </a:r>
          </a:p>
          <a:p>
            <a:pPr>
              <a:spcAft>
                <a:spcPts val="600"/>
              </a:spcAft>
              <a:defRPr sz="1200">
                <a:solidFill>
                  <a:srgbClr val="1E293B"/>
                </a:solidFill>
              </a:defRPr>
            </a:pPr>
            <a:r>
              <a:t>•    • Cleanliness &amp; Environment</a:t>
            </a:r>
          </a:p>
          <a:p>
            <a:pPr>
              <a:spcAft>
                <a:spcPts val="600"/>
              </a:spcAft>
              <a:defRPr sz="1200">
                <a:solidFill>
                  <a:srgbClr val="1E293B"/>
                </a:solidFill>
              </a:defRPr>
            </a:pPr>
            <a:r>
              <a:t>•    • Digital Access &amp; Systems</a:t>
            </a:r>
          </a:p>
          <a:p>
            <a:pPr>
              <a:spcAft>
                <a:spcPts val="600"/>
              </a:spcAft>
              <a:defRPr sz="1200">
                <a:solidFill>
                  <a:srgbClr val="1E293B"/>
                </a:solidFill>
              </a:defRPr>
            </a:pPr>
            <a:r>
              <a:t>•    • Other General Services</a:t>
            </a:r>
          </a:p>
          <a:p>
            <a:pPr>
              <a:spcAft>
                <a:spcPts val="600"/>
              </a:spcAft>
              <a:defRPr sz="1200">
                <a:solidFill>
                  <a:srgbClr val="1E293B"/>
                </a:solidFill>
              </a:defRPr>
            </a:pPr>
            <a:r>
              <a:t>•  Complaint Tracking Lifecycle: Members track progress through Open → In Progress → Resolved → Closed.</a:t>
            </a:r>
          </a:p>
          <a:p>
            <a:pPr>
              <a:spcAft>
                <a:spcPts val="600"/>
              </a:spcAft>
              <a:defRPr sz="1200">
                <a:solidFill>
                  <a:srgbClr val="1E293B"/>
                </a:solidFill>
              </a:defRPr>
            </a:pPr>
            <a:r>
              <a:t>•  Resolution Notifications: In-app alerts notify members the moment staff updates their concern.</a:t>
            </a:r>
          </a:p>
        </p:txBody>
      </p:sp>
      <p:sp>
        <p:nvSpPr>
          <p:cNvPr id="6" name="Rounded Rectangle 5"/>
          <p:cNvSpPr/>
          <p:nvPr/>
        </p:nvSpPr>
        <p:spPr>
          <a:xfrm>
            <a:off x="62179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1B4332"/>
                </a:solidFill>
              </a:defRPr>
            </a:pPr>
            <a:r>
              <a:t>Dynamic Pareto 80/20 Analysis</a:t>
            </a:r>
          </a:p>
          <a:p>
            <a:pPr>
              <a:spcAft>
                <a:spcPts val="800"/>
              </a:spcAft>
              <a:defRPr sz="1100" i="1">
                <a:solidFill>
                  <a:srgbClr val="64748B"/>
                </a:solidFill>
              </a:defRPr>
            </a:pPr>
            <a:r>
              <a:t>Data-Backed Defect Prioritization</a:t>
            </a:r>
          </a:p>
          <a:p>
            <a:pPr>
              <a:spcAft>
                <a:spcPts val="600"/>
              </a:spcAft>
              <a:defRPr sz="1200">
                <a:solidFill>
                  <a:srgbClr val="1E293B"/>
                </a:solidFill>
              </a:defRPr>
            </a:pPr>
            <a:r>
              <a:t>•  Empirical Aggregation: Automatically queries complaints and feedback submitted in the trailing 90 days.</a:t>
            </a:r>
          </a:p>
          <a:p>
            <a:pPr>
              <a:spcAft>
                <a:spcPts val="600"/>
              </a:spcAft>
              <a:defRPr sz="1200">
                <a:solidFill>
                  <a:srgbClr val="1E293B"/>
                </a:solidFill>
              </a:defRPr>
            </a:pPr>
            <a:r>
              <a:t>•  Frequency Sorting: Sorts defect categories from highest to lowest occurrence.</a:t>
            </a:r>
          </a:p>
          <a:p>
            <a:pPr>
              <a:spcAft>
                <a:spcPts val="600"/>
              </a:spcAft>
              <a:defRPr sz="1200">
                <a:solidFill>
                  <a:srgbClr val="1E293B"/>
                </a:solidFill>
              </a:defRPr>
            </a:pPr>
            <a:r>
              <a:t>•  Cumulative Percentage: Computes running percentage to identify the vital few root causes.</a:t>
            </a:r>
          </a:p>
          <a:p>
            <a:pPr>
              <a:spcAft>
                <a:spcPts val="600"/>
              </a:spcAft>
              <a:defRPr sz="1200">
                <a:solidFill>
                  <a:srgbClr val="1E293B"/>
                </a:solidFill>
              </a:defRPr>
            </a:pPr>
            <a:r>
              <a:t>•  Automatic Priority Highlighting: Identifies the #1 leading defect category for management focus.</a:t>
            </a:r>
          </a:p>
          <a:p>
            <a:pPr>
              <a:spcAft>
                <a:spcPts val="600"/>
              </a:spcAft>
              <a:defRPr sz="1200">
                <a:solidFill>
                  <a:srgbClr val="1E293B"/>
                </a:solidFill>
              </a:defRPr>
            </a:pPr>
            <a:r>
              <a:t>•  Zero Falsified Data: Displays 'Insufficient data' if no records exist, upholding data integrity.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1B4332"/>
                </a:solidFill>
              </a:defRPr>
            </a:pPr>
            <a:r>
              <a:t>REVIEW 2 · QUALITY MODULE 2</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Ishikawa (Fishbone) &amp; 5-Whys Root-Cause Analysis</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1B4332"/>
                </a:solidFill>
              </a:defRPr>
            </a:pPr>
            <a:r>
              <a:t>Ishikawa (6-Dimension Fishbone)</a:t>
            </a:r>
          </a:p>
          <a:p>
            <a:pPr>
              <a:spcAft>
                <a:spcPts val="800"/>
              </a:spcAft>
              <a:defRPr sz="1100" i="1">
                <a:solidFill>
                  <a:srgbClr val="64748B"/>
                </a:solidFill>
              </a:defRPr>
            </a:pPr>
            <a:r>
              <a:t>Comprehensive Causation Analysis</a:t>
            </a:r>
          </a:p>
          <a:p>
            <a:pPr>
              <a:spcAft>
                <a:spcPts val="600"/>
              </a:spcAft>
              <a:defRPr sz="1200">
                <a:solidFill>
                  <a:srgbClr val="1E293B"/>
                </a:solidFill>
              </a:defRPr>
            </a:pPr>
            <a:r>
              <a:t>•  Structured Investigation across 6 Universal Dimensions:</a:t>
            </a:r>
          </a:p>
          <a:p>
            <a:pPr>
              <a:spcAft>
                <a:spcPts val="600"/>
              </a:spcAft>
              <a:defRPr sz="1200">
                <a:solidFill>
                  <a:srgbClr val="1E293B"/>
                </a:solidFill>
              </a:defRPr>
            </a:pPr>
            <a:r>
              <a:t>•    1. People: Staff training, scheduling, librarian availability.</a:t>
            </a:r>
          </a:p>
          <a:p>
            <a:pPr>
              <a:spcAft>
                <a:spcPts val="600"/>
              </a:spcAft>
              <a:defRPr sz="1200">
                <a:solidFill>
                  <a:srgbClr val="1E293B"/>
                </a:solidFill>
              </a:defRPr>
            </a:pPr>
            <a:r>
              <a:t>•    2. Processes: Checkout workflows, hold holdover limits.</a:t>
            </a:r>
          </a:p>
          <a:p>
            <a:pPr>
              <a:spcAft>
                <a:spcPts val="600"/>
              </a:spcAft>
              <a:defRPr sz="1200">
                <a:solidFill>
                  <a:srgbClr val="1E293B"/>
                </a:solidFill>
              </a:defRPr>
            </a:pPr>
            <a:r>
              <a:t>•    3. Technology: Barcode scanners, network connectivity, latency.</a:t>
            </a:r>
          </a:p>
          <a:p>
            <a:pPr>
              <a:spcAft>
                <a:spcPts val="600"/>
              </a:spcAft>
              <a:defRPr sz="1200">
                <a:solidFill>
                  <a:srgbClr val="1E293B"/>
                </a:solidFill>
              </a:defRPr>
            </a:pPr>
            <a:r>
              <a:t>•    4. Materials: Physical book condition, shelf signage, labels.</a:t>
            </a:r>
          </a:p>
          <a:p>
            <a:pPr>
              <a:spcAft>
                <a:spcPts val="600"/>
              </a:spcAft>
              <a:defRPr sz="1200">
                <a:solidFill>
                  <a:srgbClr val="1E293B"/>
                </a:solidFill>
              </a:defRPr>
            </a:pPr>
            <a:r>
              <a:t>•    5. Environment: Study hall noise, lighting, desk spacing.</a:t>
            </a:r>
          </a:p>
          <a:p>
            <a:pPr>
              <a:spcAft>
                <a:spcPts val="600"/>
              </a:spcAft>
              <a:defRPr sz="1200">
                <a:solidFill>
                  <a:srgbClr val="1E293B"/>
                </a:solidFill>
              </a:defRPr>
            </a:pPr>
            <a:r>
              <a:t>•    6. Policies: Loan duration policies, fine rates, grace periods.</a:t>
            </a:r>
          </a:p>
          <a:p>
            <a:pPr>
              <a:spcAft>
                <a:spcPts val="600"/>
              </a:spcAft>
              <a:defRPr sz="1200">
                <a:solidFill>
                  <a:srgbClr val="1E293B"/>
                </a:solidFill>
              </a:defRPr>
            </a:pPr>
            <a:r>
              <a:t>•  Direct Complaint Linkage: Root-cause investigations link directly to originating student complaints for accountability.</a:t>
            </a:r>
          </a:p>
        </p:txBody>
      </p:sp>
      <p:sp>
        <p:nvSpPr>
          <p:cNvPr id="6" name="Rounded Rectangle 5"/>
          <p:cNvSpPr/>
          <p:nvPr/>
        </p:nvSpPr>
        <p:spPr>
          <a:xfrm>
            <a:off x="62179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0F172A"/>
                </a:solidFill>
              </a:defRPr>
            </a:pPr>
            <a:r>
              <a:t>5-Whys Drill-Down &amp; Kaizen Actions</a:t>
            </a:r>
          </a:p>
          <a:p>
            <a:pPr>
              <a:spcAft>
                <a:spcPts val="800"/>
              </a:spcAft>
              <a:defRPr sz="1100" i="1">
                <a:solidFill>
                  <a:srgbClr val="64748B"/>
                </a:solidFill>
              </a:defRPr>
            </a:pPr>
            <a:r>
              <a:t>Drilling Down to Actionable Causes</a:t>
            </a:r>
          </a:p>
          <a:p>
            <a:pPr>
              <a:spcAft>
                <a:spcPts val="600"/>
              </a:spcAft>
              <a:defRPr sz="1200">
                <a:solidFill>
                  <a:srgbClr val="1E293B"/>
                </a:solidFill>
              </a:defRPr>
            </a:pPr>
            <a:r>
              <a:t>•  Sequential 5-Whys Chaining: Interactive form guiding investigators down 5 iterative causal layers to discover root causes.</a:t>
            </a:r>
          </a:p>
          <a:p>
            <a:pPr>
              <a:spcAft>
                <a:spcPts val="600"/>
              </a:spcAft>
              <a:defRPr sz="1200">
                <a:solidFill>
                  <a:srgbClr val="1E293B"/>
                </a:solidFill>
              </a:defRPr>
            </a:pPr>
            <a:r>
              <a:t>•  Example Real-World Chain:</a:t>
            </a:r>
          </a:p>
          <a:p>
            <a:pPr>
              <a:spcAft>
                <a:spcPts val="600"/>
              </a:spcAft>
              <a:defRPr sz="1200">
                <a:solidFill>
                  <a:srgbClr val="1E293B"/>
                </a:solidFill>
              </a:defRPr>
            </a:pPr>
            <a:r>
              <a:t>•    • Why 1? Students experienced long checkout queues at 12:00 PM.</a:t>
            </a:r>
          </a:p>
          <a:p>
            <a:pPr>
              <a:spcAft>
                <a:spcPts val="600"/>
              </a:spcAft>
              <a:defRPr sz="1200">
                <a:solidFill>
                  <a:srgbClr val="1E293B"/>
                </a:solidFill>
              </a:defRPr>
            </a:pPr>
            <a:r>
              <a:t>•    • Why 2? Only one circulation desk was active.</a:t>
            </a:r>
          </a:p>
          <a:p>
            <a:pPr>
              <a:spcAft>
                <a:spcPts val="600"/>
              </a:spcAft>
              <a:defRPr sz="1200">
                <a:solidFill>
                  <a:srgbClr val="1E293B"/>
                </a:solidFill>
              </a:defRPr>
            </a:pPr>
            <a:r>
              <a:t>•    • Why 3? Staff lunch shifts coincided with student class breaks.</a:t>
            </a:r>
          </a:p>
          <a:p>
            <a:pPr>
              <a:spcAft>
                <a:spcPts val="600"/>
              </a:spcAft>
              <a:defRPr sz="1200">
                <a:solidFill>
                  <a:srgbClr val="1E293B"/>
                </a:solidFill>
              </a:defRPr>
            </a:pPr>
            <a:r>
              <a:t>•    • Root Cause: Peak-break staffing misaligned with demand.</a:t>
            </a:r>
          </a:p>
          <a:p>
            <a:pPr>
              <a:spcAft>
                <a:spcPts val="600"/>
              </a:spcAft>
              <a:defRPr sz="1200">
                <a:solidFill>
                  <a:srgbClr val="1E293B"/>
                </a:solidFill>
              </a:defRPr>
            </a:pPr>
            <a:r>
              <a:t>•  Kaizen Action Creation: Instantly spawns an improvement action with an assigned staff owner and strict deadline.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1B4332"/>
                </a:solidFill>
              </a:defRPr>
            </a:pPr>
            <a:r>
              <a:t>REVIEW 2 · QUALITY MODULE 3</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Deming PDCA Cycles &amp; Live Quality KPIs</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0F172A"/>
                </a:solidFill>
              </a:defRPr>
            </a:pPr>
            <a:r>
              <a:t>Stage-Gated PDCA Cycles</a:t>
            </a:r>
          </a:p>
          <a:p>
            <a:pPr>
              <a:spcAft>
                <a:spcPts val="800"/>
              </a:spcAft>
              <a:defRPr sz="1100" i="1">
                <a:solidFill>
                  <a:srgbClr val="64748B"/>
                </a:solidFill>
              </a:defRPr>
            </a:pPr>
            <a:r>
              <a:t>Deming Continuous Improvement Loop</a:t>
            </a:r>
          </a:p>
          <a:p>
            <a:pPr>
              <a:spcAft>
                <a:spcPts val="600"/>
              </a:spcAft>
              <a:defRPr sz="1200">
                <a:solidFill>
                  <a:srgbClr val="1E293B"/>
                </a:solidFill>
              </a:defRPr>
            </a:pPr>
            <a:r>
              <a:t>•  Plan: Formulate problem statement, baseline metric, measurable target, and intervention plan.</a:t>
            </a:r>
          </a:p>
          <a:p>
            <a:pPr>
              <a:spcAft>
                <a:spcPts val="600"/>
              </a:spcAft>
              <a:defRPr sz="1200">
                <a:solidFill>
                  <a:srgbClr val="1E293B"/>
                </a:solidFill>
              </a:defRPr>
            </a:pPr>
            <a:r>
              <a:t>•  Do: Document experimental deployment notes and intermediate observations.</a:t>
            </a:r>
          </a:p>
          <a:p>
            <a:pPr>
              <a:spcAft>
                <a:spcPts val="600"/>
              </a:spcAft>
              <a:defRPr sz="1200">
                <a:solidFill>
                  <a:srgbClr val="1E293B"/>
                </a:solidFill>
              </a:defRPr>
            </a:pPr>
            <a:r>
              <a:t>•  Check: Measure post-intervention results against target baseline.</a:t>
            </a:r>
          </a:p>
          <a:p>
            <a:pPr>
              <a:spcAft>
                <a:spcPts val="600"/>
              </a:spcAft>
              <a:defRPr sz="1200">
                <a:solidFill>
                  <a:srgbClr val="1E293B"/>
                </a:solidFill>
              </a:defRPr>
            </a:pPr>
            <a:r>
              <a:t>•  Act: Record management standardization decision or pivot strategy.</a:t>
            </a:r>
          </a:p>
          <a:p>
            <a:pPr>
              <a:spcAft>
                <a:spcPts val="600"/>
              </a:spcAft>
              <a:defRPr sz="1200">
                <a:solidFill>
                  <a:srgbClr val="1E293B"/>
                </a:solidFill>
              </a:defRPr>
            </a:pPr>
            <a:r>
              <a:t>•  Sequential Gating: System strictly enforces Plan → Do → Check → Act progression, preventing skipped validation stages.</a:t>
            </a:r>
          </a:p>
          <a:p>
            <a:pPr>
              <a:spcAft>
                <a:spcPts val="600"/>
              </a:spcAft>
              <a:defRPr sz="1200">
                <a:solidFill>
                  <a:srgbClr val="1E293B"/>
                </a:solidFill>
              </a:defRPr>
            </a:pPr>
            <a:r>
              <a:t>•  Audit Trace: All phase notes, owners, and final outcomes are preserved permanently in the database.</a:t>
            </a:r>
          </a:p>
        </p:txBody>
      </p:sp>
      <p:sp>
        <p:nvSpPr>
          <p:cNvPr id="6" name="Rounded Rectangle 5"/>
          <p:cNvSpPr/>
          <p:nvPr/>
        </p:nvSpPr>
        <p:spPr>
          <a:xfrm>
            <a:off x="62179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1B4332"/>
                </a:solidFill>
              </a:defRPr>
            </a:pPr>
            <a:r>
              <a:t>Real-Time Database-Backed KPIs</a:t>
            </a:r>
          </a:p>
          <a:p>
            <a:pPr>
              <a:spcAft>
                <a:spcPts val="800"/>
              </a:spcAft>
              <a:defRPr sz="1100" i="1">
                <a:solidFill>
                  <a:srgbClr val="64748B"/>
                </a:solidFill>
              </a:defRPr>
            </a:pPr>
            <a:r>
              <a:t>Live Operational Metric Dashboard</a:t>
            </a:r>
          </a:p>
          <a:p>
            <a:pPr>
              <a:spcAft>
                <a:spcPts val="600"/>
              </a:spcAft>
              <a:defRPr sz="1200">
                <a:solidFill>
                  <a:srgbClr val="1E293B"/>
                </a:solidFill>
              </a:defRPr>
            </a:pPr>
            <a:r>
              <a:t>•  Customer Satisfaction Score: Live 90-day mean rating (1–5 scale).</a:t>
            </a:r>
          </a:p>
          <a:p>
            <a:pPr>
              <a:spcAft>
                <a:spcPts val="600"/>
              </a:spcAft>
              <a:defRPr sz="1200">
                <a:solidFill>
                  <a:srgbClr val="1E293B"/>
                </a:solidFill>
              </a:defRPr>
            </a:pPr>
            <a:r>
              <a:t>•  On-Demand Availability (%): Reservations with ready copies at request ÷ total reservation requests.</a:t>
            </a:r>
          </a:p>
          <a:p>
            <a:pPr>
              <a:spcAft>
                <a:spcPts val="600"/>
              </a:spcAft>
              <a:defRPr sz="1200">
                <a:solidFill>
                  <a:srgbClr val="1E293B"/>
                </a:solidFill>
              </a:defRPr>
            </a:pPr>
            <a:r>
              <a:t>•  Circulation Speed: Recorded server-side issue workflow processing duration (in milliseconds).</a:t>
            </a:r>
          </a:p>
          <a:p>
            <a:pPr>
              <a:spcAft>
                <a:spcPts val="600"/>
              </a:spcAft>
              <a:defRPr sz="1200">
                <a:solidFill>
                  <a:srgbClr val="1E293B"/>
                </a:solidFill>
              </a:defRPr>
            </a:pPr>
            <a:r>
              <a:t>•  Complaint Resolution Rate (%): Resolved/closed cases ÷ total complaints submitted.</a:t>
            </a:r>
          </a:p>
          <a:p>
            <a:pPr>
              <a:spcAft>
                <a:spcPts val="600"/>
              </a:spcAft>
              <a:defRPr sz="1200">
                <a:solidFill>
                  <a:srgbClr val="1E293B"/>
                </a:solidFill>
              </a:defRPr>
            </a:pPr>
            <a:r>
              <a:t>•  Point-in-Time Overdue Rate (%): Overdue loans ÷ all currently active loans.</a:t>
            </a:r>
          </a:p>
          <a:p>
            <a:pPr>
              <a:spcAft>
                <a:spcPts val="600"/>
              </a:spcAft>
              <a:defRPr sz="1200">
                <a:solidFill>
                  <a:srgbClr val="1E293B"/>
                </a:solidFill>
              </a:defRPr>
            </a:pPr>
            <a:r>
              <a:t>•  Inventory Accuracy (%): Physical audit matching copies ÷ total audited copies.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1B4332"/>
                </a:solidFill>
              </a:defRPr>
            </a:pPr>
            <a:r>
              <a:t>REVIEW 2 · REPORTING &amp; SECURITY</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Reporting Engine &amp; Enterprise Security Controls</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1B4332"/>
                </a:solidFill>
              </a:defRPr>
            </a:pPr>
            <a:r>
              <a:t>Dynamic Multi-Format Reporting</a:t>
            </a:r>
          </a:p>
          <a:p>
            <a:pPr>
              <a:spcAft>
                <a:spcPts val="800"/>
              </a:spcAft>
              <a:defRPr sz="1100" i="1">
                <a:solidFill>
                  <a:srgbClr val="64748B"/>
                </a:solidFill>
              </a:defRPr>
            </a:pPr>
            <a:r>
              <a:t>Automated Institutional Reporting</a:t>
            </a:r>
          </a:p>
          <a:p>
            <a:pPr>
              <a:spcAft>
                <a:spcPts val="600"/>
              </a:spcAft>
              <a:defRPr sz="1200">
                <a:solidFill>
                  <a:srgbClr val="1E293B"/>
                </a:solidFill>
              </a:defRPr>
            </a:pPr>
            <a:r>
              <a:t>•  8 Comprehensive Report Datasets: Inventory, Circulation, Overdue, Fines, Members, Quality KPIs, Pareto, and Trends.</a:t>
            </a:r>
          </a:p>
          <a:p>
            <a:pPr>
              <a:spcAft>
                <a:spcPts val="600"/>
              </a:spcAft>
              <a:defRPr sz="1200">
                <a:solidFill>
                  <a:srgbClr val="1E293B"/>
                </a:solidFill>
              </a:defRPr>
            </a:pPr>
            <a:r>
              <a:t>•  CSV Export: RFC 4180 compliant with UTF-8 BOM encoding for universal Excel compatibility.</a:t>
            </a:r>
          </a:p>
          <a:p>
            <a:pPr>
              <a:spcAft>
                <a:spcPts val="600"/>
              </a:spcAft>
              <a:defRPr sz="1200">
                <a:solidFill>
                  <a:srgbClr val="1E293B"/>
                </a:solidFill>
              </a:defRPr>
            </a:pPr>
            <a:r>
              <a:t>•  Excel (.xlsx) Export: Generated with OpenPyXL, featuring branded styling, freeze-panes, and auto-filters.</a:t>
            </a:r>
          </a:p>
          <a:p>
            <a:pPr>
              <a:spcAft>
                <a:spcPts val="600"/>
              </a:spcAft>
              <a:defRPr sz="1200">
                <a:solidFill>
                  <a:srgbClr val="1E293B"/>
                </a:solidFill>
              </a:defRPr>
            </a:pPr>
            <a:r>
              <a:t>•  Printable PDF Export: High-resolution landscape vector tables generated via ReportLab with auto-wrapping.</a:t>
            </a:r>
          </a:p>
          <a:p>
            <a:pPr>
              <a:spcAft>
                <a:spcPts val="600"/>
              </a:spcAft>
              <a:defRPr sz="1200">
                <a:solidFill>
                  <a:srgbClr val="1E293B"/>
                </a:solidFill>
              </a:defRPr>
            </a:pPr>
            <a:r>
              <a:t>•  Date-Range Filtering: Bounded date selectors with payload safety limits (max 25,000 spreadsheet rows, 1,500 PDF rows).</a:t>
            </a:r>
          </a:p>
        </p:txBody>
      </p:sp>
      <p:sp>
        <p:nvSpPr>
          <p:cNvPr id="6" name="Rounded Rectangle 5"/>
          <p:cNvSpPr/>
          <p:nvPr/>
        </p:nvSpPr>
        <p:spPr>
          <a:xfrm>
            <a:off x="62179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0F172A"/>
                </a:solidFill>
              </a:defRPr>
            </a:pPr>
            <a:r>
              <a:t>Enterprise Security Hardening</a:t>
            </a:r>
          </a:p>
          <a:p>
            <a:pPr>
              <a:spcAft>
                <a:spcPts val="800"/>
              </a:spcAft>
              <a:defRPr sz="1100" i="1">
                <a:solidFill>
                  <a:srgbClr val="64748B"/>
                </a:solidFill>
              </a:defRPr>
            </a:pPr>
            <a:r>
              <a:t>Vulnerability Prevention &amp; Data Defense</a:t>
            </a:r>
          </a:p>
          <a:p>
            <a:pPr>
              <a:spcAft>
                <a:spcPts val="600"/>
              </a:spcAft>
              <a:defRPr sz="1200">
                <a:solidFill>
                  <a:srgbClr val="1E293B"/>
                </a:solidFill>
              </a:defRPr>
            </a:pPr>
            <a:r>
              <a:t>•  Formula Injection Defense: CSV/Excel cells starting with '=', '+', '-', or '@' are safely prepended with a single quote.</a:t>
            </a:r>
          </a:p>
          <a:p>
            <a:pPr>
              <a:spcAft>
                <a:spcPts val="600"/>
              </a:spcAft>
              <a:defRPr sz="1200">
                <a:solidFill>
                  <a:srgbClr val="1E293B"/>
                </a:solidFill>
              </a:defRPr>
            </a:pPr>
            <a:r>
              <a:t>•  Session Invalidation (auth_version): Changing passwords or admin revocation immediately kills all other active sessions.</a:t>
            </a:r>
          </a:p>
          <a:p>
            <a:pPr>
              <a:spcAft>
                <a:spcPts val="600"/>
              </a:spcAft>
              <a:defRPr sz="1200">
                <a:solidFill>
                  <a:srgbClr val="1E293B"/>
                </a:solidFill>
              </a:defRPr>
            </a:pPr>
            <a:r>
              <a:t>•  CSRF Protection: Cryptographic tokens validated on all 37 POST form actions across the application.</a:t>
            </a:r>
          </a:p>
          <a:p>
            <a:pPr>
              <a:spcAft>
                <a:spcPts val="600"/>
              </a:spcAft>
              <a:defRPr sz="1200">
                <a:solidFill>
                  <a:srgbClr val="1E293B"/>
                </a:solidFill>
              </a:defRPr>
            </a:pPr>
            <a:r>
              <a:t>•  Rate Limiting (Flask-Limiter): Login restricted to 10/min; registration to 5/hr to prevent brute force.</a:t>
            </a:r>
          </a:p>
          <a:p>
            <a:pPr>
              <a:spcAft>
                <a:spcPts val="600"/>
              </a:spcAft>
              <a:defRPr sz="1200">
                <a:solidFill>
                  <a:srgbClr val="1E293B"/>
                </a:solidFill>
              </a:defRPr>
            </a:pPr>
            <a:r>
              <a:t>•  Security Headers: Enforced X-Content-Type-Options: nosniff, X-Frame-Options: DENY, and HSTS.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1B4332"/>
                </a:solidFill>
              </a:defRPr>
            </a:pPr>
            <a:r>
              <a:t>REVIEW 2 · QUALITY ASSURANCE</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Automated Testing &amp; System Health Verification</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0F172A"/>
                </a:solidFill>
              </a:defRPr>
            </a:pPr>
            <a:r>
              <a:t>Pytest Automated Test Suite</a:t>
            </a:r>
          </a:p>
          <a:p>
            <a:pPr>
              <a:spcAft>
                <a:spcPts val="800"/>
              </a:spcAft>
              <a:defRPr sz="1100" i="1">
                <a:solidFill>
                  <a:srgbClr val="64748B"/>
                </a:solidFill>
              </a:defRPr>
            </a:pPr>
            <a:r>
              <a:t>Automated Test Suite (64 Tests)</a:t>
            </a:r>
          </a:p>
          <a:p>
            <a:pPr>
              <a:spcAft>
                <a:spcPts val="600"/>
              </a:spcAft>
              <a:defRPr sz="1200">
                <a:solidFill>
                  <a:srgbClr val="1E293B"/>
                </a:solidFill>
              </a:defRPr>
            </a:pPr>
            <a:r>
              <a:t>•  64 Passed / 0 Failed: 100% test pass rate across 5 comprehensive test modules:</a:t>
            </a:r>
          </a:p>
          <a:p>
            <a:pPr>
              <a:spcAft>
                <a:spcPts val="600"/>
              </a:spcAft>
              <a:defRPr sz="1200">
                <a:solidFill>
                  <a:srgbClr val="1E293B"/>
                </a:solidFill>
              </a:defRPr>
            </a:pPr>
            <a:r>
              <a:t>•    • test_auth_and_roles.py (15 tests): RBAC, session termination, password resets.</a:t>
            </a:r>
          </a:p>
          <a:p>
            <a:pPr>
              <a:spcAft>
                <a:spcPts val="600"/>
              </a:spcAft>
              <a:defRPr sz="1200">
                <a:solidFill>
                  <a:srgbClr val="1E293B"/>
                </a:solidFill>
              </a:defRPr>
            </a:pPr>
            <a:r>
              <a:t>•    • test_library_workflows.py (9 tests): Checkouts, returns, hold promotions, fines.</a:t>
            </a:r>
          </a:p>
          <a:p>
            <a:pPr>
              <a:spcAft>
                <a:spcPts val="600"/>
              </a:spcAft>
              <a:defRPr sz="1200">
                <a:solidFill>
                  <a:srgbClr val="1E293B"/>
                </a:solidFill>
              </a:defRPr>
            </a:pPr>
            <a:r>
              <a:t>•    • test_new_features.py (16 tests): CSV preview, bounded queries, notifications.</a:t>
            </a:r>
          </a:p>
          <a:p>
            <a:pPr>
              <a:spcAft>
                <a:spcPts val="600"/>
              </a:spcAft>
              <a:defRPr sz="1200">
                <a:solidFill>
                  <a:srgbClr val="1E293B"/>
                </a:solidFill>
              </a:defRPr>
            </a:pPr>
            <a:r>
              <a:t>•    • test_production_configuration.py (13 tests): Production checks, secure cookies.</a:t>
            </a:r>
          </a:p>
          <a:p>
            <a:pPr>
              <a:spcAft>
                <a:spcPts val="600"/>
              </a:spcAft>
              <a:defRPr sz="1200">
                <a:solidFill>
                  <a:srgbClr val="1E293B"/>
                </a:solidFill>
              </a:defRPr>
            </a:pPr>
            <a:r>
              <a:t>•    • test_quality_workflows.py (11 tests): VoC, Pareto, PDCA, and audits.</a:t>
            </a:r>
          </a:p>
          <a:p>
            <a:pPr>
              <a:spcAft>
                <a:spcPts val="600"/>
              </a:spcAft>
              <a:defRPr sz="1200">
                <a:solidFill>
                  <a:srgbClr val="1E293B"/>
                </a:solidFill>
              </a:defRPr>
            </a:pPr>
            <a:r>
              <a:t>•  Regression Safety: Full test suite executes in ~29 seconds, ensuring rapid feedback.</a:t>
            </a:r>
          </a:p>
        </p:txBody>
      </p:sp>
      <p:sp>
        <p:nvSpPr>
          <p:cNvPr id="6" name="Rounded Rectangle 5"/>
          <p:cNvSpPr/>
          <p:nvPr/>
        </p:nvSpPr>
        <p:spPr>
          <a:xfrm>
            <a:off x="62179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1B4332"/>
                </a:solidFill>
              </a:defRPr>
            </a:pPr>
            <a:r>
              <a:t>System Health &amp; Maintenance</a:t>
            </a:r>
          </a:p>
          <a:p>
            <a:pPr>
              <a:spcAft>
                <a:spcPts val="800"/>
              </a:spcAft>
              <a:defRPr sz="1100" i="1">
                <a:solidFill>
                  <a:srgbClr val="64748B"/>
                </a:solidFill>
              </a:defRPr>
            </a:pPr>
            <a:r>
              <a:t>Operational Reliability &amp; Health</a:t>
            </a:r>
          </a:p>
          <a:p>
            <a:pPr>
              <a:spcAft>
                <a:spcPts val="600"/>
              </a:spcAft>
              <a:defRPr sz="1200">
                <a:solidFill>
                  <a:srgbClr val="1E293B"/>
                </a:solidFill>
              </a:defRPr>
            </a:pPr>
            <a:r>
              <a:t>•  Live Health Probe (/healthz): Returns HTTP 200 OK with database connection latency check.</a:t>
            </a:r>
          </a:p>
          <a:p>
            <a:pPr>
              <a:spcAft>
                <a:spcPts val="600"/>
              </a:spcAft>
              <a:defRPr sz="1200">
                <a:solidFill>
                  <a:srgbClr val="1E293B"/>
                </a:solidFill>
              </a:defRPr>
            </a:pPr>
            <a:r>
              <a:t>•  Online SQLite Backup (backup-db): Uses sqlite3 backup API to create point-in-time consistent backups.</a:t>
            </a:r>
          </a:p>
          <a:p>
            <a:pPr>
              <a:spcAft>
                <a:spcPts val="600"/>
              </a:spcAft>
              <a:defRPr sz="1200">
                <a:solidFill>
                  <a:srgbClr val="1E293B"/>
                </a:solidFill>
              </a:defRPr>
            </a:pPr>
            <a:r>
              <a:t>•  Expired Record Purge (purge-expired-records): Atomically removes stale reset tokens and abandoned CSV imports.</a:t>
            </a:r>
          </a:p>
          <a:p>
            <a:pPr>
              <a:spcAft>
                <a:spcPts val="600"/>
              </a:spcAft>
              <a:defRPr sz="1200">
                <a:solidFill>
                  <a:srgbClr val="1E293B"/>
                </a:solidFill>
              </a:defRPr>
            </a:pPr>
            <a:r>
              <a:t>•  Automated Reminder Engine (send-loan-reminders): Idempotent background job generating due-soon alerts.</a:t>
            </a:r>
          </a:p>
          <a:p>
            <a:pPr>
              <a:spcAft>
                <a:spcPts val="600"/>
              </a:spcAft>
              <a:defRPr sz="1200">
                <a:solidFill>
                  <a:srgbClr val="1E293B"/>
                </a:solidFill>
              </a:defRPr>
            </a:pPr>
            <a:r>
              <a:t>•  Zero Schema Drift: Alembic check confirms database tables exactly match SQLAlchemy models.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1B4332"/>
                </a:solidFill>
              </a:defRPr>
            </a:pPr>
            <a:r>
              <a:t>VIVA PREPARATION</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0F172A"/>
                </a:solidFill>
              </a:defRPr>
            </a:pPr>
            <a:r>
              <a:t>Key Evaluator Viva Questions &amp; Technical Defense</a:t>
            </a:r>
          </a:p>
        </p:txBody>
      </p:sp>
      <p:sp>
        <p:nvSpPr>
          <p:cNvPr id="5" name="Rounded Rectangle 4"/>
          <p:cNvSpPr/>
          <p:nvPr/>
        </p:nvSpPr>
        <p:spPr>
          <a:xfrm>
            <a:off x="731520" y="164592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0F172A"/>
                </a:solidFill>
              </a:defRPr>
            </a:pPr>
            <a:r>
              <a:t>Q1: How is Database Concurrency Handled?</a:t>
            </a:r>
          </a:p>
          <a:p>
            <a:pPr>
              <a:spcAft>
                <a:spcPts val="600"/>
              </a:spcAft>
              <a:defRPr sz="1200">
                <a:solidFill>
                  <a:srgbClr val="1E293B"/>
                </a:solidFill>
              </a:defRPr>
            </a:pPr>
            <a:r>
              <a:t>•  Answer: All circulation routines (issue, return, reservation) run inside atomic transactions.</a:t>
            </a:r>
          </a:p>
          <a:p>
            <a:pPr>
              <a:spcAft>
                <a:spcPts val="600"/>
              </a:spcAft>
              <a:defRPr sz="1200">
                <a:solidFill>
                  <a:srgbClr val="1E293B"/>
                </a:solidFill>
              </a:defRPr>
            </a:pPr>
            <a:r>
              <a:t>•  We use row-level locking with SQLAlchemy's with_for_update() to prevent race conditions and duplicate loans.</a:t>
            </a:r>
          </a:p>
        </p:txBody>
      </p:sp>
      <p:sp>
        <p:nvSpPr>
          <p:cNvPr id="6" name="Rounded Rectangle 5"/>
          <p:cNvSpPr/>
          <p:nvPr/>
        </p:nvSpPr>
        <p:spPr>
          <a:xfrm>
            <a:off x="6217920" y="164592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1B4332"/>
                </a:solidFill>
              </a:defRPr>
            </a:pPr>
            <a:r>
              <a:t>Q2: How is TQM Practically Realized?</a:t>
            </a:r>
          </a:p>
          <a:p>
            <a:pPr>
              <a:spcAft>
                <a:spcPts val="600"/>
              </a:spcAft>
              <a:defRPr sz="1200">
                <a:solidFill>
                  <a:srgbClr val="1E293B"/>
                </a:solidFill>
              </a:defRPr>
            </a:pPr>
            <a:r>
              <a:t>•  Answer: Rather than static notes, TQM is woven into live tables: 1-5 VoC ratings, Pareto defect clustering, Ishikawa 6M root cause, and Deming PDCA cycles.</a:t>
            </a:r>
          </a:p>
        </p:txBody>
      </p:sp>
      <p:sp>
        <p:nvSpPr>
          <p:cNvPr id="7" name="Rounded Rectangle 6"/>
          <p:cNvSpPr/>
          <p:nvPr/>
        </p:nvSpPr>
        <p:spPr>
          <a:xfrm>
            <a:off x="731520" y="402336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D97706"/>
                </a:solidFill>
              </a:defRPr>
            </a:pPr>
            <a:r>
              <a:t>Q3: How are User Sessions Secured?</a:t>
            </a:r>
          </a:p>
          <a:p>
            <a:pPr>
              <a:spcAft>
                <a:spcPts val="600"/>
              </a:spcAft>
              <a:defRPr sz="1200">
                <a:solidFill>
                  <a:srgbClr val="1E293B"/>
                </a:solidFill>
              </a:defRPr>
            </a:pPr>
            <a:r>
              <a:t>•  Answer: Passwords use salted Werkzeug scrypt/pbkdf2 hashing. Cookies enforce HttpOnly and SameSite=Lax. An auth_version column revokes active sessions upon password change.</a:t>
            </a:r>
          </a:p>
        </p:txBody>
      </p:sp>
      <p:sp>
        <p:nvSpPr>
          <p:cNvPr id="8" name="Rounded Rectangle 7"/>
          <p:cNvSpPr/>
          <p:nvPr/>
        </p:nvSpPr>
        <p:spPr>
          <a:xfrm>
            <a:off x="6217920" y="402336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B91C1C"/>
                </a:solidFill>
              </a:defRPr>
            </a:pPr>
            <a:r>
              <a:t>Q4: How does the Schema Support Scale?</a:t>
            </a:r>
          </a:p>
          <a:p>
            <a:pPr>
              <a:spcAft>
                <a:spcPts val="600"/>
              </a:spcAft>
              <a:defRPr sz="1200">
                <a:solidFill>
                  <a:srgbClr val="1E293B"/>
                </a:solidFill>
              </a:defRPr>
            </a:pPr>
            <a:r>
              <a:t>•  Answer: Physical copies are decoupled into a separate book_copies table with barcodes. Compound indexes optimize status/due-date lookups, and batch imports handle up to 10k copies.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10B981"/>
                </a:solidFill>
              </a:defRPr>
            </a:pPr>
            <a:r>
              <a:t>REVIEW 1 &amp; 2 SUMMARY</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FFFFFF"/>
                </a:solidFill>
              </a:defRPr>
            </a:pPr>
            <a:r>
              <a:t>Project Summary, Achievements &amp; Future Roadmap</a:t>
            </a:r>
          </a:p>
        </p:txBody>
      </p:sp>
      <p:sp>
        <p:nvSpPr>
          <p:cNvPr id="5" name="Rounded Rectangle 4"/>
          <p:cNvSpPr/>
          <p:nvPr/>
        </p:nvSpPr>
        <p:spPr>
          <a:xfrm>
            <a:off x="731520" y="1645920"/>
            <a:ext cx="5120640" cy="4572000"/>
          </a:xfrm>
          <a:prstGeom prst="roundRect">
            <a:avLst/>
          </a:prstGeom>
          <a:solidFill>
            <a:srgbClr val="1E293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10B981"/>
                </a:solidFill>
              </a:defRPr>
            </a:pPr>
            <a:r>
              <a:t>Review 1 &amp; 2 Deliverables Achieved</a:t>
            </a:r>
          </a:p>
          <a:p>
            <a:pPr>
              <a:spcAft>
                <a:spcPts val="800"/>
              </a:spcAft>
              <a:defRPr sz="1100" i="1">
                <a:solidFill>
                  <a:srgbClr val="E2E8F0"/>
                </a:solidFill>
              </a:defRPr>
            </a:pPr>
            <a:r>
              <a:t>Completed Milestones</a:t>
            </a:r>
          </a:p>
          <a:p>
            <a:pPr>
              <a:spcAft>
                <a:spcPts val="600"/>
              </a:spcAft>
              <a:defRPr sz="1200">
                <a:solidFill>
                  <a:srgbClr val="E2E8F0"/>
                </a:solidFill>
              </a:defRPr>
            </a:pPr>
            <a:r>
              <a:t>•  ✓ Formal SRS &amp; Relational Design: Completed and documented in docs/.</a:t>
            </a:r>
          </a:p>
          <a:p>
            <a:pPr>
              <a:spcAft>
                <a:spcPts val="600"/>
              </a:spcAft>
              <a:defRPr sz="1200">
                <a:solidFill>
                  <a:srgbClr val="E2E8F0"/>
                </a:solidFill>
              </a:defRPr>
            </a:pPr>
            <a:r>
              <a:t>•  ✓ 3 Isolated Role Portals: Student, Quality Manager, and Administrator.</a:t>
            </a:r>
          </a:p>
          <a:p>
            <a:pPr>
              <a:spcAft>
                <a:spcPts val="600"/>
              </a:spcAft>
              <a:defRPr sz="1200">
                <a:solidFill>
                  <a:srgbClr val="E2E8F0"/>
                </a:solidFill>
              </a:defRPr>
            </a:pPr>
            <a:r>
              <a:t>•  ✓ Copy-Level Inventory Engine: Barcode-based tracking with CSV bulk import.</a:t>
            </a:r>
          </a:p>
          <a:p>
            <a:pPr>
              <a:spcAft>
                <a:spcPts val="600"/>
              </a:spcAft>
              <a:defRPr sz="1200">
                <a:solidFill>
                  <a:srgbClr val="E2E8F0"/>
                </a:solidFill>
              </a:defRPr>
            </a:pPr>
            <a:r>
              <a:t>•  ✓ Transactional Circulation: Atomic loans, returns, and automatic waitlists.</a:t>
            </a:r>
          </a:p>
          <a:p>
            <a:pPr>
              <a:spcAft>
                <a:spcPts val="600"/>
              </a:spcAft>
              <a:defRPr sz="1200">
                <a:solidFill>
                  <a:srgbClr val="E2E8F0"/>
                </a:solidFill>
              </a:defRPr>
            </a:pPr>
            <a:r>
              <a:t>•  ✓ Complete TQM Suite: VoC, Pareto 80/20, Ishikawa 6M, 5-Whys, Kaizen, and PDCA.</a:t>
            </a:r>
          </a:p>
          <a:p>
            <a:pPr>
              <a:spcAft>
                <a:spcPts val="600"/>
              </a:spcAft>
              <a:defRPr sz="1200">
                <a:solidFill>
                  <a:srgbClr val="E2E8F0"/>
                </a:solidFill>
              </a:defRPr>
            </a:pPr>
            <a:r>
              <a:t>•  ✓ High-Resolution Reports: On-demand CSV, Excel (.xlsx), and ReportLab PDF.</a:t>
            </a:r>
          </a:p>
          <a:p>
            <a:pPr>
              <a:spcAft>
                <a:spcPts val="600"/>
              </a:spcAft>
              <a:defRPr sz="1200">
                <a:solidFill>
                  <a:srgbClr val="E2E8F0"/>
                </a:solidFill>
              </a:defRPr>
            </a:pPr>
            <a:r>
              <a:t>•  ✓ 100% Quality Assurance: 64/64 automated tests passed; zero schema discrepancies.</a:t>
            </a:r>
          </a:p>
        </p:txBody>
      </p:sp>
      <p:sp>
        <p:nvSpPr>
          <p:cNvPr id="6" name="Rounded Rectangle 5"/>
          <p:cNvSpPr/>
          <p:nvPr/>
        </p:nvSpPr>
        <p:spPr>
          <a:xfrm>
            <a:off x="6217920" y="1645920"/>
            <a:ext cx="5120640" cy="4572000"/>
          </a:xfrm>
          <a:prstGeom prst="roundRect">
            <a:avLst/>
          </a:prstGeom>
          <a:solidFill>
            <a:srgbClr val="1E293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bIns="228600"/>
          <a:lstStyle/>
          <a:p>
            <a:pPr algn="ctr">
              <a:spcAft>
                <a:spcPts val="400"/>
              </a:spcAft>
              <a:defRPr b="1" sz="1600">
                <a:solidFill>
                  <a:srgbClr val="38BDF8"/>
                </a:solidFill>
              </a:defRPr>
            </a:pPr>
            <a:r>
              <a:t>Future Enhancements &amp; Roadmap</a:t>
            </a:r>
          </a:p>
          <a:p>
            <a:pPr>
              <a:spcAft>
                <a:spcPts val="800"/>
              </a:spcAft>
              <a:defRPr sz="1100" i="1">
                <a:solidFill>
                  <a:srgbClr val="E2E8F0"/>
                </a:solidFill>
              </a:defRPr>
            </a:pPr>
            <a:r>
              <a:t>Next Steps for Evolution</a:t>
            </a:r>
          </a:p>
          <a:p>
            <a:pPr>
              <a:spcAft>
                <a:spcPts val="600"/>
              </a:spcAft>
              <a:defRPr sz="1200">
                <a:solidFill>
                  <a:srgbClr val="E2E8F0"/>
                </a:solidFill>
              </a:defRPr>
            </a:pPr>
            <a:r>
              <a:t>•  1. Hardware Barcode &amp; QR Scanning: Direct camera/handheld scanner integration for rapid checkout desk throughput.</a:t>
            </a:r>
          </a:p>
          <a:p>
            <a:pPr>
              <a:spcAft>
                <a:spcPts val="600"/>
              </a:spcAft>
              <a:defRPr sz="1200">
                <a:solidFill>
                  <a:srgbClr val="E2E8F0"/>
                </a:solidFill>
              </a:defRPr>
            </a:pPr>
            <a:r>
              <a:t>•  2. RFID Tag &amp; Self-Checkout Kiosk: Contactless inventory audits and student self-service return kiosks.</a:t>
            </a:r>
          </a:p>
          <a:p>
            <a:pPr>
              <a:spcAft>
                <a:spcPts val="600"/>
              </a:spcAft>
              <a:defRPr sz="1200">
                <a:solidFill>
                  <a:srgbClr val="E2E8F0"/>
                </a:solidFill>
              </a:defRPr>
            </a:pPr>
            <a:r>
              <a:t>•  3. Automated Email Gateways: SMTP integration for automated overdue notices, reservation ready alerts, and digests.</a:t>
            </a:r>
          </a:p>
          <a:p>
            <a:pPr>
              <a:spcAft>
                <a:spcPts val="600"/>
              </a:spcAft>
              <a:defRPr sz="1200">
                <a:solidFill>
                  <a:srgbClr val="E2E8F0"/>
                </a:solidFill>
              </a:defRPr>
            </a:pPr>
            <a:r>
              <a:t>•  4. Dedicated Single-Book Detail Page: Individual copy shelf location and visual waitlist position.</a:t>
            </a:r>
          </a:p>
          <a:p>
            <a:pPr>
              <a:spcAft>
                <a:spcPts val="600"/>
              </a:spcAft>
              <a:defRPr sz="1200">
                <a:solidFill>
                  <a:srgbClr val="E2E8F0"/>
                </a:solidFill>
              </a:defRPr>
            </a:pPr>
            <a:r>
              <a:t>•  5. Mobile Progressive Web App (PWA): Installable mobile interface with offline catalog caching.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